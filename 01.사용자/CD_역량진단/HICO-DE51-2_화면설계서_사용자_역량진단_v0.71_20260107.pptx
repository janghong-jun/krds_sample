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20"/>
  </p:notesMasterIdLst>
  <p:sldIdLst>
    <p:sldId id="256" r:id="rId5"/>
    <p:sldId id="583" r:id="rId6"/>
    <p:sldId id="273" r:id="rId7"/>
    <p:sldId id="586" r:id="rId8"/>
    <p:sldId id="587" r:id="rId9"/>
    <p:sldId id="588" r:id="rId10"/>
    <p:sldId id="614" r:id="rId11"/>
    <p:sldId id="589" r:id="rId12"/>
    <p:sldId id="618" r:id="rId13"/>
    <p:sldId id="590" r:id="rId14"/>
    <p:sldId id="613" r:id="rId15"/>
    <p:sldId id="615" r:id="rId16"/>
    <p:sldId id="617" r:id="rId17"/>
    <p:sldId id="616" r:id="rId18"/>
    <p:sldId id="296" r:id="rId19"/>
  </p:sldIdLst>
  <p:sldSz cx="12192000" cy="6858000"/>
  <p:notesSz cx="6858000" cy="9144000"/>
  <p:embeddedFontLs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나눔고딕" pitchFamily="2" charset="-127"/>
      <p:regular r:id="rId25"/>
      <p:bold r:id="rId26"/>
    </p:embeddedFont>
    <p:embeddedFont>
      <p:font typeface="맑은 고딕" panose="020B0503020000020004" pitchFamily="50" charset="-127"/>
      <p:regular r:id="rId27"/>
      <p:bold r:id="rId28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97" d="100"/>
          <a:sy n="97" d="100"/>
        </p:scale>
        <p:origin x="708" y="7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4935F0B-CAD1-071D-5DAC-B1066669D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69939D1-110F-0480-A2B6-85C9A1150C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DC020FA-DCF5-289A-8B12-204031C2B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7620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A327CE-C268-D827-27FC-09CEB696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C365047-1E65-0504-92F8-4F808415F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E307E05-94AF-F315-DE92-0FCF1809C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34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955E100-7D0C-45B4-237B-4F85D209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635257A-4541-BD5D-4CB7-C5F879B74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0E72721-C484-795C-6FCA-6A3BC27921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1210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3F370B0-1ADB-F287-21EA-097D4646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49F33A3-25EE-9B16-79AB-6240C98189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E29FABD-B00A-56E7-654F-11EBC5E77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333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0626C3C-AA5F-A132-5B03-3F38EA57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028DB3A-C6B6-35AA-BFB3-E6C7E10F4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5DF0EA9-52FB-929F-DE15-E0F436197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318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6705358-E6D6-7CAB-AEAB-83407102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CB603C3-95C7-E1C8-3DFC-C993DA061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83D7C2EA-FDDD-0199-0A53-6A53FF240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958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CF9616C-2DF5-8BE2-6A39-2DFC201E6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D7BB5EB-C4C5-3CF5-578F-D4F7F46C7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57DF521-25AF-E0A0-3939-DF9E58F226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74203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40BE6A-55FC-149C-D61E-FC3F53B19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24EA0DC-55B2-E012-43F4-1D03459A9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D67FE20B-D2A9-48BE-1781-D4DFCD1A0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4527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E7ECB4-CD78-BED6-C16C-68D103FA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B71671F-55B1-8919-4103-4A3EE9C5B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D7C50FF-1305-4739-CFD8-C684619A8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8838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185B877-5105-F8ED-F0DE-1F941D8C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8448524-5E7A-D577-6333-D5307D0A6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4A6B1A4-0F39-24F9-557C-97FB3052EE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5666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80117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역량진단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948514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641518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역량진단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rgbClr val="000000">
                              <a:lumMod val="95000"/>
                              <a:lumOff val="5000"/>
                            </a:srgb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ACB483BF-C0BA-F8AE-4F3A-123C34A10530}"/>
              </a:ext>
            </a:extLst>
          </p:cNvPr>
          <p:cNvGrpSpPr/>
          <p:nvPr/>
        </p:nvGrpSpPr>
        <p:grpSpPr>
          <a:xfrm>
            <a:off x="1476355" y="869871"/>
            <a:ext cx="8121278" cy="358653"/>
            <a:chOff x="-496005" y="2232659"/>
            <a:chExt cx="4917587" cy="255758"/>
          </a:xfrm>
        </p:grpSpPr>
        <p:sp>
          <p:nvSpPr>
            <p:cNvPr id="29" name="Input">
              <a:extLst>
                <a:ext uri="{FF2B5EF4-FFF2-40B4-BE49-F238E27FC236}">
                  <a16:creationId xmlns:a16="http://schemas.microsoft.com/office/drawing/2014/main" id="{9A9FC284-0895-68BA-0C6D-5B9B3C77CEF7}"/>
                </a:ext>
              </a:extLst>
            </p:cNvPr>
            <p:cNvSpPr/>
            <p:nvPr/>
          </p:nvSpPr>
          <p:spPr>
            <a:xfrm>
              <a:off x="-496005" y="2232659"/>
              <a:ext cx="4917587" cy="25575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40826" latinLnBrk="1">
                <a:spcAft>
                  <a:spcPts val="400"/>
                </a:spcAft>
                <a:buClrTx/>
                <a:defRPr/>
              </a:pP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년도 경기교원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핵심역량진단 설문 </a:t>
              </a:r>
              <a:r>
                <a:rPr lang="en-US" altLang="ko-KR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1400" b="1" dirty="0">
                  <a:solidFill>
                    <a:srgbClr val="000000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</a:p>
          </p:txBody>
        </p:sp>
        <p:sp>
          <p:nvSpPr>
            <p:cNvPr id="30" name="Chevron Right">
              <a:extLst>
                <a:ext uri="{FF2B5EF4-FFF2-40B4-BE49-F238E27FC236}">
                  <a16:creationId xmlns:a16="http://schemas.microsoft.com/office/drawing/2014/main" id="{78836FE2-BAEB-CE73-B97D-3EF4EAC8876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281555" y="2322227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/>
        </p:nvGraphicFramePr>
        <p:xfrm>
          <a:off x="9655174" y="276226"/>
          <a:ext cx="2532687" cy="179344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 구분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: ‘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교사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’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경우</a:t>
                      </a: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설문 문항은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‘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핵심역량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진단도구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설문문항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＇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엑셀파일 참조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현재 진행중인 역량진단 설문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로그인한 사용자 분류별로 해당 설문을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최근 등록된 설문 제목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default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진행할 설문이 없을 경우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설문이 없을 경우 화면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 화면 참조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endParaRPr lang="ko-KR" altLang="en-US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설문 문항 출력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BFCEC-4CE2-003D-0BA8-8E89797A713F}"/>
              </a:ext>
            </a:extLst>
          </p:cNvPr>
          <p:cNvSpPr txBox="1"/>
          <p:nvPr/>
        </p:nvSpPr>
        <p:spPr>
          <a:xfrm>
            <a:off x="1487488" y="223656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교육과정 기획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재구성에 필요한 국가 교육과정의 주요 내용을 설명할 수 있다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3BDE219-AC79-9698-8CFA-9FB0DF9F97B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9235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A2E945-E9D2-9715-1C4C-DB374C898034}"/>
              </a:ext>
            </a:extLst>
          </p:cNvPr>
          <p:cNvSpPr txBox="1"/>
          <p:nvPr/>
        </p:nvSpPr>
        <p:spPr>
          <a:xfrm>
            <a:off x="3181856" y="883944"/>
            <a:ext cx="471445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2026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년도 경기교원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교사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핵심역량진단 설문 </a:t>
            </a:r>
            <a:r>
              <a:rPr lang="en-US" altLang="ko-KR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분기</a:t>
            </a:r>
            <a:endParaRPr lang="ko-KR" altLang="en-US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F0162-654C-A669-C32F-E3867260B3E5}"/>
              </a:ext>
            </a:extLst>
          </p:cNvPr>
          <p:cNvSpPr txBox="1"/>
          <p:nvPr/>
        </p:nvSpPr>
        <p:spPr>
          <a:xfrm>
            <a:off x="1558925" y="1241870"/>
            <a:ext cx="7955194" cy="276999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ko-KR" altLang="en-US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본인의 상태에 대해 솔직하게 답해 주셔야 보다 정확하고 객관적인 진단 결과를 얻으실 수 있습니다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0DE6F26-EDC1-2440-7575-7DC18B8DE00F}"/>
              </a:ext>
            </a:extLst>
          </p:cNvPr>
          <p:cNvGraphicFramePr>
            <a:graphicFrameLocks noGrp="1"/>
          </p:cNvGraphicFramePr>
          <p:nvPr/>
        </p:nvGraphicFramePr>
        <p:xfrm>
          <a:off x="1482724" y="261199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83AC2318-B10A-8B1D-8C07-98556818B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64" y="2675219"/>
            <a:ext cx="165600" cy="1656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D299EE1-0550-F512-14F0-1FA9A7B18F6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1938" y="2675219"/>
            <a:ext cx="165600" cy="165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B29C975-C8FC-0DA9-8BDF-D4BA9F43203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512" y="2675219"/>
            <a:ext cx="165600" cy="1656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9BF547-48F9-6D69-8155-5EB0CF4E489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86" y="2675219"/>
            <a:ext cx="165600" cy="165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9B19FA9-B1D2-E846-3277-01AE079D07B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660" y="2675219"/>
            <a:ext cx="165600" cy="165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C23606-C6EB-B740-C210-E4509D59858A}"/>
              </a:ext>
            </a:extLst>
          </p:cNvPr>
          <p:cNvSpPr txBox="1"/>
          <p:nvPr/>
        </p:nvSpPr>
        <p:spPr>
          <a:xfrm>
            <a:off x="1482724" y="1910350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1.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교육과정 설계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600C62-63D4-4403-F484-1273B6AB6D28}"/>
              </a:ext>
            </a:extLst>
          </p:cNvPr>
          <p:cNvSpPr txBox="1"/>
          <p:nvPr/>
        </p:nvSpPr>
        <p:spPr>
          <a:xfrm>
            <a:off x="1482724" y="296438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학교의 교육방향과 학생의 특성을 반영하여 교육과정을 기획하거나 재구성할 수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2933560-F103-7A24-4239-70595A05EBF2}"/>
              </a:ext>
            </a:extLst>
          </p:cNvPr>
          <p:cNvGraphicFramePr>
            <a:graphicFrameLocks noGrp="1"/>
          </p:cNvGraphicFramePr>
          <p:nvPr/>
        </p:nvGraphicFramePr>
        <p:xfrm>
          <a:off x="1477960" y="3339809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6F5A94C2-C38D-2B95-6B3C-A32D0F273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600" y="3403035"/>
            <a:ext cx="165600" cy="1656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64A541A-4132-F650-19AB-4E74D964CC5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174" y="3403035"/>
            <a:ext cx="165600" cy="1656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A3D9FEF-3C51-1863-0668-0196B7A4AA7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48" y="3403035"/>
            <a:ext cx="165600" cy="1656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BF862D6-C52F-8187-8169-9C70A345B28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322" y="3403035"/>
            <a:ext cx="165600" cy="1656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4A609C-3791-0BEA-8830-C252A9026D0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896" y="3403035"/>
            <a:ext cx="165600" cy="1656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8C6C129-81F7-0C0A-D189-8C876FF13879}"/>
              </a:ext>
            </a:extLst>
          </p:cNvPr>
          <p:cNvSpPr txBox="1"/>
          <p:nvPr/>
        </p:nvSpPr>
        <p:spPr>
          <a:xfrm>
            <a:off x="1496622" y="3692196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국가 교육과정의 주요 내용을 반영하여 교육과정을 기획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재구성하기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16D6C465-4CA6-2098-57EC-67C97635740B}"/>
              </a:ext>
            </a:extLst>
          </p:cNvPr>
          <p:cNvGraphicFramePr>
            <a:graphicFrameLocks noGrp="1"/>
          </p:cNvGraphicFramePr>
          <p:nvPr/>
        </p:nvGraphicFramePr>
        <p:xfrm>
          <a:off x="1476355" y="4069321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34" name="그림 33">
            <a:extLst>
              <a:ext uri="{FF2B5EF4-FFF2-40B4-BE49-F238E27FC236}">
                <a16:creationId xmlns:a16="http://schemas.microsoft.com/office/drawing/2014/main" id="{1B0251E4-6C48-3CC8-CA7F-C8BC96EA8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4130851"/>
            <a:ext cx="165600" cy="1656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22B14E6-7135-AD9B-84F6-F49159AB49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4130851"/>
            <a:ext cx="165600" cy="1656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32B055E-7FFB-17CA-2975-D4A92692BC6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4130851"/>
            <a:ext cx="165600" cy="1656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02063E10-50E2-18A1-B05B-BF5069D454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4130851"/>
            <a:ext cx="165600" cy="1656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5BC2B31-BA42-B6F1-C360-904C04A73C8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4130851"/>
            <a:ext cx="165600" cy="1656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5C895B-817C-62D2-61D2-56645EC85ACD}"/>
              </a:ext>
            </a:extLst>
          </p:cNvPr>
          <p:cNvSpPr txBox="1"/>
          <p:nvPr/>
        </p:nvSpPr>
        <p:spPr>
          <a:xfrm>
            <a:off x="1496622" y="4842243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수준과 성장의 신장에 필요한 교수전략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평가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피드백 방법을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81343156-5775-DABE-6882-40BA3CBD5C1F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5217672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42" name="그림 41">
            <a:extLst>
              <a:ext uri="{FF2B5EF4-FFF2-40B4-BE49-F238E27FC236}">
                <a16:creationId xmlns:a16="http://schemas.microsoft.com/office/drawing/2014/main" id="{B56F9250-864F-79D3-A942-99E4B26BC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5280898"/>
            <a:ext cx="165600" cy="165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F9DADB4-C26F-196B-12A9-E9E1EAF56DC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5280898"/>
            <a:ext cx="165600" cy="1656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7C71D4A-E1AC-20B1-5E5F-F4C53F58164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5280898"/>
            <a:ext cx="165600" cy="165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BA64072-BECE-71BD-8890-5054753599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5280898"/>
            <a:ext cx="165600" cy="1656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9FEF3CD4-A46F-50BD-88A4-9C16BA6F368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5280898"/>
            <a:ext cx="165600" cy="1656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FE080E9-416C-E016-C41D-7E43CEEBE9A5}"/>
              </a:ext>
            </a:extLst>
          </p:cNvPr>
          <p:cNvSpPr txBox="1"/>
          <p:nvPr/>
        </p:nvSpPr>
        <p:spPr>
          <a:xfrm>
            <a:off x="1491858" y="4516029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수업 및 평가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4CE50-72DD-133E-AA3F-1E5C8DAC4579}"/>
              </a:ext>
            </a:extLst>
          </p:cNvPr>
          <p:cNvSpPr txBox="1"/>
          <p:nvPr/>
        </p:nvSpPr>
        <p:spPr>
          <a:xfrm>
            <a:off x="1491858" y="5570059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수준과 성장을 지원하기 위한 교수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학습과 평가를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A31FC017-0617-4975-4269-714B1741FB4A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5945488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228E6561-9D65-9484-4B0C-EA6FBC394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6008714"/>
            <a:ext cx="165600" cy="165600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F7A28577-F008-8BCF-B8A1-D64835F770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6008714"/>
            <a:ext cx="165600" cy="165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9BBA0717-03B4-A751-178B-93E6AD567F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6008714"/>
            <a:ext cx="165600" cy="1656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3D4E2BE6-FDDC-80F6-8E30-8B27549F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6008714"/>
            <a:ext cx="165600" cy="1656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CD964A8A-105B-A0F8-F2D8-D864FFF46AA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6008714"/>
            <a:ext cx="165600" cy="1656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1E28FD43-D227-2F26-F930-2B5156C5C76E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C38AD36-B678-F843-8F01-6167F7E04C2E}"/>
              </a:ext>
            </a:extLst>
          </p:cNvPr>
          <p:cNvSpPr/>
          <p:nvPr/>
        </p:nvSpPr>
        <p:spPr>
          <a:xfrm>
            <a:off x="3442232" y="85696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237C33-715B-4425-B896-7ABE6FE57D0F}"/>
              </a:ext>
            </a:extLst>
          </p:cNvPr>
          <p:cNvSpPr/>
          <p:nvPr/>
        </p:nvSpPr>
        <p:spPr>
          <a:xfrm>
            <a:off x="1496622" y="1821174"/>
            <a:ext cx="8100386" cy="4619353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9D10CF2-F913-BDEA-1777-22F37742F5C4}"/>
              </a:ext>
            </a:extLst>
          </p:cNvPr>
          <p:cNvSpPr/>
          <p:nvPr/>
        </p:nvSpPr>
        <p:spPr>
          <a:xfrm>
            <a:off x="1452790" y="173717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8B0CF55-21FC-3558-1AA6-0899D673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663450A-CD73-4FD2-A840-714014950D0D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B9A5065-BAFD-337A-9E35-C0BC2B3D19E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0849D32C-BD59-D249-95CC-88B252058F9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2C3A86F7-1D4B-43F1-6AE3-1438C0F86781}"/>
              </a:ext>
            </a:extLst>
          </p:cNvPr>
          <p:cNvGraphicFramePr/>
          <p:nvPr/>
        </p:nvGraphicFramePr>
        <p:xfrm>
          <a:off x="9655174" y="276226"/>
          <a:ext cx="2532687" cy="5132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0AD4F9D-A25A-F1E7-8DEA-0228A071E28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67E3E-CE83-DA32-FAF8-E73951136E90}"/>
              </a:ext>
            </a:extLst>
          </p:cNvPr>
          <p:cNvSpPr txBox="1"/>
          <p:nvPr/>
        </p:nvSpPr>
        <p:spPr>
          <a:xfrm>
            <a:off x="1496622" y="848748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 개별의 생활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상황과 심리 수준에 적합한 상담 기법을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AC532FE-FD47-A264-44BF-8202CB48BE07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122417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1D72E637-6182-519C-9DCD-D861B6711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1287403"/>
            <a:ext cx="165600" cy="1656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4628808-6F94-CD9C-BFE7-55A56D574C4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1287403"/>
            <a:ext cx="165600" cy="1656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C3B63C6-EFFB-57D2-CD5E-1CA2DB7FAF3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1287403"/>
            <a:ext cx="165600" cy="1656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BBD97F6-66AC-DA71-F461-2DB9887E24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1287403"/>
            <a:ext cx="165600" cy="1656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C170BB6-2C99-EC06-BFE8-30EC0EEDD6B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1287403"/>
            <a:ext cx="165600" cy="1656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0B7D5E4-B404-7011-2682-FF22AE418DAB}"/>
              </a:ext>
            </a:extLst>
          </p:cNvPr>
          <p:cNvSpPr txBox="1"/>
          <p:nvPr/>
        </p:nvSpPr>
        <p:spPr>
          <a:xfrm>
            <a:off x="1491858" y="52253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3.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생활교육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573954-E291-90C3-C3EC-A0A74DD9BB33}"/>
              </a:ext>
            </a:extLst>
          </p:cNvPr>
          <p:cNvSpPr txBox="1"/>
          <p:nvPr/>
        </p:nvSpPr>
        <p:spPr>
          <a:xfrm>
            <a:off x="1491858" y="157656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행동을 이해하고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학생들의 바람직한 학교생활과 성장을 지원하려고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F8BB2A15-02D1-BEFC-8773-DF5D9794F072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195199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97" name="그림 96">
            <a:extLst>
              <a:ext uri="{FF2B5EF4-FFF2-40B4-BE49-F238E27FC236}">
                <a16:creationId xmlns:a16="http://schemas.microsoft.com/office/drawing/2014/main" id="{A5A4327E-C496-53BB-BD0F-96538B58E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2015219"/>
            <a:ext cx="165600" cy="16560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A0065C7-4157-4109-07D5-3C6C11C5CEF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2015219"/>
            <a:ext cx="165600" cy="1656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00B39A05-6FE0-2B1C-C950-E9F69E7B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2015219"/>
            <a:ext cx="165600" cy="16560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DC2E9927-9F75-6E9D-6F83-E5ED63FEBAD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2015219"/>
            <a:ext cx="165600" cy="1656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5DF10B9F-F091-1955-2F04-3EFD9A84BB5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2015219"/>
            <a:ext cx="165600" cy="1656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110DC494-10D1-154B-DC3F-6A9A8B3F976B}"/>
              </a:ext>
            </a:extLst>
          </p:cNvPr>
          <p:cNvSpPr txBox="1"/>
          <p:nvPr/>
        </p:nvSpPr>
        <p:spPr>
          <a:xfrm>
            <a:off x="1505756" y="230438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학교에서 발생하는 다양한 생활교육 상황에 능동적으로 대처하기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E8B2A1F2-03BD-4D29-6C61-2D859ED8884C}"/>
              </a:ext>
            </a:extLst>
          </p:cNvPr>
          <p:cNvGraphicFramePr>
            <a:graphicFrameLocks noGrp="1"/>
          </p:cNvGraphicFramePr>
          <p:nvPr/>
        </p:nvGraphicFramePr>
        <p:xfrm>
          <a:off x="1485489" y="268150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04" name="그림 103">
            <a:extLst>
              <a:ext uri="{FF2B5EF4-FFF2-40B4-BE49-F238E27FC236}">
                <a16:creationId xmlns:a16="http://schemas.microsoft.com/office/drawing/2014/main" id="{C7EA5C9D-0FE2-5698-F8E4-AC6CC3DD2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32" y="2743035"/>
            <a:ext cx="165600" cy="1656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AA20A349-F0C2-9A60-7B0E-A5E7B88F0D4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06" y="2743035"/>
            <a:ext cx="165600" cy="1656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2A14490F-7E9E-4174-13BB-A2751042470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0" y="2743035"/>
            <a:ext cx="165600" cy="1656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DAAF940-8D83-9543-1B42-61875B04EA6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354" y="2743035"/>
            <a:ext cx="165600" cy="16560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6A37B4CC-2AE1-B85E-E29E-E19E0A1E89D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28" y="2743035"/>
            <a:ext cx="165600" cy="16560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94171C28-6757-AB13-0419-26F07A788C60}"/>
              </a:ext>
            </a:extLst>
          </p:cNvPr>
          <p:cNvSpPr txBox="1"/>
          <p:nvPr/>
        </p:nvSpPr>
        <p:spPr>
          <a:xfrm>
            <a:off x="1499584" y="3502628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미래 직업 변화와 학생의 진로와 관련된 다양한 지식과 높은 정보를 알고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13" name="표 112">
            <a:extLst>
              <a:ext uri="{FF2B5EF4-FFF2-40B4-BE49-F238E27FC236}">
                <a16:creationId xmlns:a16="http://schemas.microsoft.com/office/drawing/2014/main" id="{F1F5760E-0F48-72CF-EAD9-73DC6D812ABB}"/>
              </a:ext>
            </a:extLst>
          </p:cNvPr>
          <p:cNvGraphicFramePr>
            <a:graphicFrameLocks noGrp="1"/>
          </p:cNvGraphicFramePr>
          <p:nvPr/>
        </p:nvGraphicFramePr>
        <p:xfrm>
          <a:off x="1494820" y="387805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14" name="그림 113">
            <a:extLst>
              <a:ext uri="{FF2B5EF4-FFF2-40B4-BE49-F238E27FC236}">
                <a16:creationId xmlns:a16="http://schemas.microsoft.com/office/drawing/2014/main" id="{985DD95B-6F95-79A0-CE34-C8DC1FAF5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60" y="3941283"/>
            <a:ext cx="165600" cy="165600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8E24A2C7-0109-28CD-41F3-71207F9D1C2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034" y="3941283"/>
            <a:ext cx="165600" cy="165600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186DFC33-25EE-BF55-6E42-96E36DB4A86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608" y="3941283"/>
            <a:ext cx="165600" cy="165600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92EF7BEA-EC43-92E4-101B-96E6B9A0E1C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182" y="3941283"/>
            <a:ext cx="165600" cy="165600"/>
          </a:xfrm>
          <a:prstGeom prst="rect">
            <a:avLst/>
          </a:prstGeom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593B91BB-232D-6378-B303-95F4ECD847F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756" y="3941283"/>
            <a:ext cx="165600" cy="165600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E94F56F5-EAE3-CDAC-ACB4-DD1E5575C66B}"/>
              </a:ext>
            </a:extLst>
          </p:cNvPr>
          <p:cNvSpPr txBox="1"/>
          <p:nvPr/>
        </p:nvSpPr>
        <p:spPr>
          <a:xfrm>
            <a:off x="1494820" y="317641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4.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진로교육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0E51F0-A222-C453-F129-9B60D97DC3B7}"/>
              </a:ext>
            </a:extLst>
          </p:cNvPr>
          <p:cNvSpPr txBox="1"/>
          <p:nvPr/>
        </p:nvSpPr>
        <p:spPr>
          <a:xfrm>
            <a:off x="1494820" y="423044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성향에 맞는 맞춤형 정보를 활용하여 진로 교육을 할 수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1" name="표 120">
            <a:extLst>
              <a:ext uri="{FF2B5EF4-FFF2-40B4-BE49-F238E27FC236}">
                <a16:creationId xmlns:a16="http://schemas.microsoft.com/office/drawing/2014/main" id="{3408D9B3-3FC5-BEAD-B474-0B7733153497}"/>
              </a:ext>
            </a:extLst>
          </p:cNvPr>
          <p:cNvGraphicFramePr>
            <a:graphicFrameLocks noGrp="1"/>
          </p:cNvGraphicFramePr>
          <p:nvPr/>
        </p:nvGraphicFramePr>
        <p:xfrm>
          <a:off x="1490056" y="460587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22" name="그림 121">
            <a:extLst>
              <a:ext uri="{FF2B5EF4-FFF2-40B4-BE49-F238E27FC236}">
                <a16:creationId xmlns:a16="http://schemas.microsoft.com/office/drawing/2014/main" id="{293D6AD5-70F3-9B15-3DC7-BADB27531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696" y="4669099"/>
            <a:ext cx="165600" cy="165600"/>
          </a:xfrm>
          <a:prstGeom prst="rect">
            <a:avLst/>
          </a:prstGeom>
        </p:spPr>
      </p:pic>
      <p:pic>
        <p:nvPicPr>
          <p:cNvPr id="123" name="그림 122">
            <a:extLst>
              <a:ext uri="{FF2B5EF4-FFF2-40B4-BE49-F238E27FC236}">
                <a16:creationId xmlns:a16="http://schemas.microsoft.com/office/drawing/2014/main" id="{9422BA73-7A33-7739-DA9F-64E6F0CD274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270" y="4669099"/>
            <a:ext cx="165600" cy="165600"/>
          </a:xfrm>
          <a:prstGeom prst="rect">
            <a:avLst/>
          </a:prstGeom>
        </p:spPr>
      </p:pic>
      <p:pic>
        <p:nvPicPr>
          <p:cNvPr id="124" name="그림 123">
            <a:extLst>
              <a:ext uri="{FF2B5EF4-FFF2-40B4-BE49-F238E27FC236}">
                <a16:creationId xmlns:a16="http://schemas.microsoft.com/office/drawing/2014/main" id="{9AD38EF1-D642-B15D-9BA0-28409656DD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844" y="4669099"/>
            <a:ext cx="165600" cy="165600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94D9D21C-F57B-2681-4047-5942FEE1D83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418" y="4669099"/>
            <a:ext cx="165600" cy="165600"/>
          </a:xfrm>
          <a:prstGeom prst="rect">
            <a:avLst/>
          </a:prstGeom>
        </p:spPr>
      </p:pic>
      <p:pic>
        <p:nvPicPr>
          <p:cNvPr id="126" name="그림 125">
            <a:extLst>
              <a:ext uri="{FF2B5EF4-FFF2-40B4-BE49-F238E27FC236}">
                <a16:creationId xmlns:a16="http://schemas.microsoft.com/office/drawing/2014/main" id="{80C452D2-09B2-2B92-713D-D6271FA1AB5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992" y="4669099"/>
            <a:ext cx="165600" cy="16560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43F66590-5240-65C2-FFA6-29E43BAC8344}"/>
              </a:ext>
            </a:extLst>
          </p:cNvPr>
          <p:cNvSpPr txBox="1"/>
          <p:nvPr/>
        </p:nvSpPr>
        <p:spPr>
          <a:xfrm>
            <a:off x="1508718" y="495826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학생의 진로 설계를 위해 필요한 정보를 제공하기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F9E50F3D-FECA-F950-2E8F-3B95A7BF264A}"/>
              </a:ext>
            </a:extLst>
          </p:cNvPr>
          <p:cNvGraphicFramePr>
            <a:graphicFrameLocks noGrp="1"/>
          </p:cNvGraphicFramePr>
          <p:nvPr/>
        </p:nvGraphicFramePr>
        <p:xfrm>
          <a:off x="1488451" y="533538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29" name="그림 128">
            <a:extLst>
              <a:ext uri="{FF2B5EF4-FFF2-40B4-BE49-F238E27FC236}">
                <a16:creationId xmlns:a16="http://schemas.microsoft.com/office/drawing/2014/main" id="{8EC66EEA-559B-4D8D-FBE2-4D21BFEB3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594" y="5396915"/>
            <a:ext cx="165600" cy="165600"/>
          </a:xfrm>
          <a:prstGeom prst="rect">
            <a:avLst/>
          </a:prstGeom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A46327CA-18BD-D130-5B56-9D34538F53A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168" y="5396915"/>
            <a:ext cx="165600" cy="165600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B6E8E75E-BC73-1214-08F7-A9DFFA89C41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42" y="5396915"/>
            <a:ext cx="165600" cy="165600"/>
          </a:xfrm>
          <a:prstGeom prst="rect">
            <a:avLst/>
          </a:prstGeom>
        </p:spPr>
      </p:pic>
      <p:pic>
        <p:nvPicPr>
          <p:cNvPr id="132" name="그림 131">
            <a:extLst>
              <a:ext uri="{FF2B5EF4-FFF2-40B4-BE49-F238E27FC236}">
                <a16:creationId xmlns:a16="http://schemas.microsoft.com/office/drawing/2014/main" id="{758E271A-D064-578F-1312-204901FE930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316" y="5396915"/>
            <a:ext cx="165600" cy="165600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492BD3F8-3699-9BC7-D9C5-96557BC5D6E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90" y="5396915"/>
            <a:ext cx="165600" cy="165600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C53D43D3-28F7-05BD-7196-09D895FC40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1193" y="6346871"/>
            <a:ext cx="8029575" cy="279144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E655F60-2320-66F2-7EF2-2953F98520A9}"/>
              </a:ext>
            </a:extLst>
          </p:cNvPr>
          <p:cNvSpPr txBox="1"/>
          <p:nvPr/>
        </p:nvSpPr>
        <p:spPr>
          <a:xfrm>
            <a:off x="1496621" y="6143722"/>
            <a:ext cx="7912491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 비전과 목표를 구체화하여 개인의 활동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학급 운영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,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타인과의 도구 활용 관계에 대해 이해하고 있다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3F4A9D4-10AD-0DA1-277F-036863E8C8E6}"/>
              </a:ext>
            </a:extLst>
          </p:cNvPr>
          <p:cNvSpPr txBox="1"/>
          <p:nvPr/>
        </p:nvSpPr>
        <p:spPr>
          <a:xfrm>
            <a:off x="1491858" y="5817508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5.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학급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학교 경영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48EC441-EE80-9500-F537-E13C20C8316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72486B9-FB73-A91B-2E02-BD2FAD510EA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</p:spTree>
    <p:extLst>
      <p:ext uri="{BB962C8B-B14F-4D97-AF65-F5344CB8AC3E}">
        <p14:creationId xmlns:p14="http://schemas.microsoft.com/office/powerpoint/2010/main" val="260492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17BA996-5FD3-181C-71E6-EED5B34A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9886768E-8BA4-AED8-6C5B-69470F35B3A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4EF16A24-540D-7BC2-236C-E97D6B0D17B3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1E62137-7D76-C3FA-3C3C-1617D8D0FF7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4334C27-87FB-AEA6-0A87-0BE8ECB7B5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8839310"/>
              </p:ext>
            </p:extLst>
          </p:nvPr>
        </p:nvGraphicFramePr>
        <p:xfrm>
          <a:off x="9655174" y="276226"/>
          <a:ext cx="2532687" cy="212873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ko-KR" altLang="en-US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클릭 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 완료 유효성 체크 후 정상일 경우 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confirm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(F-02-001)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결과가 저장되나 제출 전 단계로 재 진단 가능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번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'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버튼 클릭 시 노출되는 버튼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진단결과 미리보기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’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V-HCD-03-002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(F-02-002)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호출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결과 제출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제출 후에도 재 진행 가능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진단 결과보기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V-HCD-01-002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1302DC2-C6A6-3C28-AB3A-FFB8C3FEFF4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2F668F-01BF-0B2F-553E-D68A847AC3DF}"/>
              </a:ext>
            </a:extLst>
          </p:cNvPr>
          <p:cNvSpPr txBox="1"/>
          <p:nvPr/>
        </p:nvSpPr>
        <p:spPr>
          <a:xfrm>
            <a:off x="1496622" y="852818"/>
            <a:ext cx="776802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지식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교사의 생활 중 발생할 수 있는 교사의 소진상태를 예방 및 대처하고 건강한 삶을 유지하기 위해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01D761D-DF46-5434-4C8F-426EA6512673}"/>
              </a:ext>
            </a:extLst>
          </p:cNvPr>
          <p:cNvGraphicFramePr>
            <a:graphicFrameLocks noGrp="1"/>
          </p:cNvGraphicFramePr>
          <p:nvPr/>
        </p:nvGraphicFramePr>
        <p:xfrm>
          <a:off x="1491858" y="1228247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28" name="그림 27">
            <a:extLst>
              <a:ext uri="{FF2B5EF4-FFF2-40B4-BE49-F238E27FC236}">
                <a16:creationId xmlns:a16="http://schemas.microsoft.com/office/drawing/2014/main" id="{AFB7A1CC-0880-D5C4-B89E-78012D9A8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498" y="1291473"/>
            <a:ext cx="165600" cy="1656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1420258-A413-15C2-E9AE-BAF63D34E79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72" y="1291473"/>
            <a:ext cx="165600" cy="1656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0EF59CD-D0BD-9EDD-9BF8-7FCD579D32A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646" y="1291473"/>
            <a:ext cx="165600" cy="1656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B4CEB52-93EA-9E64-0566-C02FC869032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220" y="1291473"/>
            <a:ext cx="165600" cy="1656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6FB9C82-6DF6-DC03-8579-C5D5E1F5364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794" y="1291473"/>
            <a:ext cx="165600" cy="1656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096BA7BF-FEAA-27AB-5A77-B0C0FE9FFF51}"/>
              </a:ext>
            </a:extLst>
          </p:cNvPr>
          <p:cNvSpPr txBox="1"/>
          <p:nvPr/>
        </p:nvSpPr>
        <p:spPr>
          <a:xfrm>
            <a:off x="1491858" y="526604"/>
            <a:ext cx="6185938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10. 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자기관리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A7E111-BE52-6933-2BCD-D9A902931A2F}"/>
              </a:ext>
            </a:extLst>
          </p:cNvPr>
          <p:cNvSpPr txBox="1"/>
          <p:nvPr/>
        </p:nvSpPr>
        <p:spPr>
          <a:xfrm>
            <a:off x="1491858" y="1580634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기술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교사로서의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건강한 삶을 위해 인문학적 소양을 계발하고 교양을 함양한다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383B271E-4AD2-F5F7-2A82-F5E1A530E376}"/>
              </a:ext>
            </a:extLst>
          </p:cNvPr>
          <p:cNvGraphicFramePr>
            <a:graphicFrameLocks noGrp="1"/>
          </p:cNvGraphicFramePr>
          <p:nvPr/>
        </p:nvGraphicFramePr>
        <p:xfrm>
          <a:off x="1487094" y="1956063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97" name="그림 96">
            <a:extLst>
              <a:ext uri="{FF2B5EF4-FFF2-40B4-BE49-F238E27FC236}">
                <a16:creationId xmlns:a16="http://schemas.microsoft.com/office/drawing/2014/main" id="{289F83C9-E9A4-FDCE-C3DB-BE9AB5815F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4" y="2019289"/>
            <a:ext cx="165600" cy="165600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227781E6-D8C9-8770-BD67-796785B689E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08" y="2019289"/>
            <a:ext cx="165600" cy="165600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87E39AAA-D13B-FA92-30DC-CA597B2ABA9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882" y="2019289"/>
            <a:ext cx="165600" cy="165600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2FEDA3F5-2E8E-26EE-E285-31F93CFFAEC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456" y="2019289"/>
            <a:ext cx="165600" cy="165600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4C44D93A-8C81-708F-AFF3-919ADC46B0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30" y="2019289"/>
            <a:ext cx="165600" cy="165600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A1E319DD-2134-9456-B755-36FE2FF0087A}"/>
              </a:ext>
            </a:extLst>
          </p:cNvPr>
          <p:cNvSpPr txBox="1"/>
          <p:nvPr/>
        </p:nvSpPr>
        <p:spPr>
          <a:xfrm>
            <a:off x="1505756" y="2308450"/>
            <a:ext cx="6181174" cy="276999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[</a:t>
            </a:r>
            <a:r>
              <a:rPr lang="ko-KR" altLang="en-US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태도</a:t>
            </a:r>
            <a:r>
              <a:rPr lang="en-US" altLang="ko-KR" sz="12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]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건강한 삶을 유지하기 위해 적극적으로 노력한다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03" name="표 102">
            <a:extLst>
              <a:ext uri="{FF2B5EF4-FFF2-40B4-BE49-F238E27FC236}">
                <a16:creationId xmlns:a16="http://schemas.microsoft.com/office/drawing/2014/main" id="{02A41C6E-2387-AA03-FED2-C0FBC58D2DC7}"/>
              </a:ext>
            </a:extLst>
          </p:cNvPr>
          <p:cNvGraphicFramePr>
            <a:graphicFrameLocks noGrp="1"/>
          </p:cNvGraphicFramePr>
          <p:nvPr/>
        </p:nvGraphicFramePr>
        <p:xfrm>
          <a:off x="1485489" y="2685575"/>
          <a:ext cx="8105775" cy="259080"/>
        </p:xfrm>
        <a:graphic>
          <a:graphicData uri="http://schemas.openxmlformats.org/drawingml/2006/table">
            <a:tbl>
              <a:tblPr firstRow="1" bandRow="1">
                <a:tableStyleId>{3F2BC16E-299E-4C3D-80B9-536EA04BB99F}</a:tableStyleId>
              </a:tblPr>
              <a:tblGrid>
                <a:gridCol w="1621155">
                  <a:extLst>
                    <a:ext uri="{9D8B030D-6E8A-4147-A177-3AD203B41FA5}">
                      <a16:colId xmlns:a16="http://schemas.microsoft.com/office/drawing/2014/main" val="1244179545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4127647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3037208541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2086364456"/>
                    </a:ext>
                  </a:extLst>
                </a:gridCol>
                <a:gridCol w="1621155">
                  <a:extLst>
                    <a:ext uri="{9D8B030D-6E8A-4147-A177-3AD203B41FA5}">
                      <a16:colId xmlns:a16="http://schemas.microsoft.com/office/drawing/2014/main" val="921255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낮음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보통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매우 높음</a:t>
                      </a:r>
                    </a:p>
                  </a:txBody>
                  <a:tcPr marL="324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275493"/>
                  </a:ext>
                </a:extLst>
              </a:tr>
            </a:tbl>
          </a:graphicData>
        </a:graphic>
      </p:graphicFrame>
      <p:pic>
        <p:nvPicPr>
          <p:cNvPr id="104" name="그림 103">
            <a:extLst>
              <a:ext uri="{FF2B5EF4-FFF2-40B4-BE49-F238E27FC236}">
                <a16:creationId xmlns:a16="http://schemas.microsoft.com/office/drawing/2014/main" id="{4D31810E-3EC6-202D-1862-D29C05775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32" y="2747105"/>
            <a:ext cx="165600" cy="16560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A34396FD-E402-8F76-51C4-D3964D6D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06" y="2747105"/>
            <a:ext cx="165600" cy="165600"/>
          </a:xfrm>
          <a:prstGeom prst="rect">
            <a:avLst/>
          </a:prstGeom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7684CB06-5D88-9A85-ECF4-A4B3B1BF972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80" y="2747105"/>
            <a:ext cx="165600" cy="16560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363E6126-BD6D-5C77-F174-66792775F8B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354" y="2747105"/>
            <a:ext cx="165600" cy="165600"/>
          </a:xfrm>
          <a:prstGeom prst="rect">
            <a:avLst/>
          </a:prstGeom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A982BA8D-B93D-4C96-7047-53B05F69933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28" y="2747105"/>
            <a:ext cx="165600" cy="1656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0C1E10A-BC4D-CFAE-808E-E8DC8E1DB5AC}"/>
              </a:ext>
            </a:extLst>
          </p:cNvPr>
          <p:cNvSpPr/>
          <p:nvPr/>
        </p:nvSpPr>
        <p:spPr>
          <a:xfrm>
            <a:off x="7673032" y="3313943"/>
            <a:ext cx="1591618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완료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6F99B2-FFD4-343E-622F-EFDCA4C41C32}"/>
              </a:ext>
            </a:extLst>
          </p:cNvPr>
          <p:cNvSpPr txBox="1"/>
          <p:nvPr/>
        </p:nvSpPr>
        <p:spPr>
          <a:xfrm>
            <a:off x="3581256" y="3678937"/>
            <a:ext cx="5683394" cy="451406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완료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버튼 클릭 시 결과 제출 전 진단결과 정보를 확인 하실 수 있습니다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※’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완료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 버튼을 누르지 않고 이전으로 이동 하거나 창을 닫을 경우 입력하신 내용은 저장되지 않습니다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885386BE-DE89-BB5E-6D29-268E6693D501}"/>
              </a:ext>
            </a:extLst>
          </p:cNvPr>
          <p:cNvCxnSpPr>
            <a:cxnSpLocks/>
            <a:stCxn id="6" idx="3"/>
            <a:endCxn id="8" idx="3"/>
          </p:cNvCxnSpPr>
          <p:nvPr/>
        </p:nvCxnSpPr>
        <p:spPr>
          <a:xfrm>
            <a:off x="9264650" y="3475943"/>
            <a:ext cx="1908" cy="1177039"/>
          </a:xfrm>
          <a:prstGeom prst="bentConnector3">
            <a:avLst>
              <a:gd name="adj1" fmla="val 1208113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AA8861-CD84-417F-7937-4B546CE0030C}"/>
              </a:ext>
            </a:extLst>
          </p:cNvPr>
          <p:cNvSpPr txBox="1"/>
          <p:nvPr/>
        </p:nvSpPr>
        <p:spPr>
          <a:xfrm>
            <a:off x="5374432" y="4872732"/>
            <a:ext cx="3890217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‘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제출 하기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’</a:t>
            </a:r>
            <a:r>
              <a:rPr lang="ko-KR" altLang="en-US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버튼 을 통해 역량진단 결과를 제출하실 수 있습니다</a:t>
            </a:r>
            <a:r>
              <a:rPr lang="en-US" altLang="ko-KR" sz="1000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sz="1000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C1CD741-F151-25C6-0A07-FE834D60C976}"/>
              </a:ext>
            </a:extLst>
          </p:cNvPr>
          <p:cNvGrpSpPr/>
          <p:nvPr/>
        </p:nvGrpSpPr>
        <p:grpSpPr>
          <a:xfrm>
            <a:off x="5982647" y="4490982"/>
            <a:ext cx="3283911" cy="324000"/>
            <a:chOff x="5982647" y="4490982"/>
            <a:chExt cx="3283911" cy="3240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C1B18E-63CA-2F8C-7D0B-BFD32287F007}"/>
                </a:ext>
              </a:extLst>
            </p:cNvPr>
            <p:cNvSpPr/>
            <p:nvPr/>
          </p:nvSpPr>
          <p:spPr>
            <a:xfrm>
              <a:off x="7674940" y="4490982"/>
              <a:ext cx="1591618" cy="324000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bg1"/>
                  </a:solidFill>
                  <a:latin typeface="+mn-ea"/>
                </a:rPr>
                <a:t>제출 하기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5B07C18-5952-19D3-7A20-F53290668412}"/>
                </a:ext>
              </a:extLst>
            </p:cNvPr>
            <p:cNvSpPr/>
            <p:nvPr/>
          </p:nvSpPr>
          <p:spPr>
            <a:xfrm>
              <a:off x="5982647" y="4490982"/>
              <a:ext cx="1591618" cy="32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90000" bIns="90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진단 결과 미리보기</a:t>
              </a: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ED654B-5016-317C-31AB-672FCFA4050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6B3748-1107-FED7-C2E5-CE495737AE7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A1F7EC-5077-710E-9F49-2E5CF993188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6599D1-6595-93B9-0676-6ABCA791E0B9}"/>
              </a:ext>
            </a:extLst>
          </p:cNvPr>
          <p:cNvSpPr/>
          <p:nvPr/>
        </p:nvSpPr>
        <p:spPr>
          <a:xfrm>
            <a:off x="5599688" y="4412681"/>
            <a:ext cx="3752232" cy="75594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601FA-947A-B199-9BC8-A9A0D8561D24}"/>
              </a:ext>
            </a:extLst>
          </p:cNvPr>
          <p:cNvSpPr txBox="1"/>
          <p:nvPr/>
        </p:nvSpPr>
        <p:spPr>
          <a:xfrm>
            <a:off x="9268789" y="3968750"/>
            <a:ext cx="447117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sz="10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Click!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662C217-859B-D61B-883E-AF6D4EC6A425}"/>
              </a:ext>
            </a:extLst>
          </p:cNvPr>
          <p:cNvSpPr/>
          <p:nvPr/>
        </p:nvSpPr>
        <p:spPr>
          <a:xfrm>
            <a:off x="7534459" y="332410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ACBF99A-2145-0382-3502-EF20FCEBC213}"/>
              </a:ext>
            </a:extLst>
          </p:cNvPr>
          <p:cNvSpPr/>
          <p:nvPr/>
        </p:nvSpPr>
        <p:spPr>
          <a:xfrm>
            <a:off x="5454680" y="43517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F8D41A3-FC9A-C0C6-9D9E-D94783279F5A}"/>
              </a:ext>
            </a:extLst>
          </p:cNvPr>
          <p:cNvSpPr/>
          <p:nvPr/>
        </p:nvSpPr>
        <p:spPr>
          <a:xfrm>
            <a:off x="5830084" y="44900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7478DA0-9BE2-23DC-2989-C0DC95A8A32F}"/>
              </a:ext>
            </a:extLst>
          </p:cNvPr>
          <p:cNvSpPr/>
          <p:nvPr/>
        </p:nvSpPr>
        <p:spPr>
          <a:xfrm>
            <a:off x="7637481" y="449771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BE93DE-BB14-D162-55E5-3A7EDE8BAE2B}"/>
              </a:ext>
            </a:extLst>
          </p:cNvPr>
          <p:cNvSpPr/>
          <p:nvPr/>
        </p:nvSpPr>
        <p:spPr>
          <a:xfrm>
            <a:off x="1558925" y="4490053"/>
            <a:ext cx="1591618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진단결과 보기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CD0F6DF-9099-A229-C382-1B26CF97351E}"/>
              </a:ext>
            </a:extLst>
          </p:cNvPr>
          <p:cNvSpPr/>
          <p:nvPr/>
        </p:nvSpPr>
        <p:spPr>
          <a:xfrm>
            <a:off x="3138009" y="445810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66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347BBCD-0D60-551A-ACEB-905772DF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94AFA9B3-6244-328E-9210-3BB0E339B0A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FBEB69A-DB22-FAAB-CC48-43E1E5E111D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17DFFAAB-39C9-45F4-D2FA-EFA65B745C37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378A518-01AB-01E0-09D3-19FF189931D7}"/>
              </a:ext>
            </a:extLst>
          </p:cNvPr>
          <p:cNvGraphicFramePr/>
          <p:nvPr/>
        </p:nvGraphicFramePr>
        <p:xfrm>
          <a:off x="9655174" y="276226"/>
          <a:ext cx="2532687" cy="84855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수행할 진단 설문이 없을 경우 화면</a:t>
                      </a: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대상자가 아니거나 진단 기간이 아닐 경우 출력되는 안내 문구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E7B0769-19AD-C7DE-DA44-B6E721A7FC2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7C3B6-D9EA-C1F4-1C39-2CD9EBB985BC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 수행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1211E-0662-BA5D-133C-182BF62FA60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A94BFB-361C-8CFD-261B-C9C26206119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6365A3-2D11-4099-8B7C-0214CCC5CF81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9235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99C667-0673-6141-1EC5-91A2D48A89DC}"/>
              </a:ext>
            </a:extLst>
          </p:cNvPr>
          <p:cNvSpPr txBox="1"/>
          <p:nvPr/>
        </p:nvSpPr>
        <p:spPr>
          <a:xfrm>
            <a:off x="3181856" y="883944"/>
            <a:ext cx="4714458" cy="30777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참여 가능한 진단 설문이 없습니다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4B0C227-72B2-54BC-25FF-C53D87012A93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내 역량진단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3DBEA-D6B9-DBE5-0DE2-5F15CD74A807}"/>
              </a:ext>
            </a:extLst>
          </p:cNvPr>
          <p:cNvSpPr txBox="1"/>
          <p:nvPr/>
        </p:nvSpPr>
        <p:spPr>
          <a:xfrm>
            <a:off x="2732245" y="2823967"/>
            <a:ext cx="5609498" cy="697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현재 참여 가능한 역량진단 항목이 없습니다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새로운 진단이 등록되면 알림을 통해 안내해 드리겠습니다</a:t>
            </a:r>
            <a:r>
              <a:rPr lang="en-US" altLang="ko-KR" b="1" dirty="0"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b="1" dirty="0">
                <a:latin typeface="나눔고딕" pitchFamily="2" charset="-127"/>
                <a:ea typeface="나눔고딕" pitchFamily="2" charset="-127"/>
              </a:rPr>
              <a:t> 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AEBB9DF-64A9-3FDE-FAC3-2042DCDC269C}"/>
              </a:ext>
            </a:extLst>
          </p:cNvPr>
          <p:cNvSpPr/>
          <p:nvPr/>
        </p:nvSpPr>
        <p:spPr>
          <a:xfrm>
            <a:off x="3719702" y="29251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4661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43D3AF-F1EC-B73C-DF77-3417AF2F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883488C-E63B-1B44-CA9A-5E359C8FBDA8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EB2035E-A97F-317D-95D4-7F15066B249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1205AFB-B677-0C57-6307-CCE0966B319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BD59AA7F-197E-C3ED-D437-734FE14CCA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945846"/>
              </p:ext>
            </p:extLst>
          </p:nvPr>
        </p:nvGraphicFramePr>
        <p:xfrm>
          <a:off x="9655174" y="276226"/>
          <a:ext cx="2532687" cy="13057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진단 결과 화면 목록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기간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키워드를 통해 검색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설문 목록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행 클릭 시 해당 진단 결과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V-HCD-01-002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FED97E-487D-C894-D0BC-1CEA3931895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6A232-FF65-0AEE-B0A9-2D555BAC748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 보기 및 진단결과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10EFC-ABA1-1D42-5282-818C1C408F1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A0D273-A43D-32BB-3D0D-E7FA9E76427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302443B-41FC-4913-B352-C30FA47E3051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702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105" name="TextBox 104">
            <a:extLst>
              <a:ext uri="{FF2B5EF4-FFF2-40B4-BE49-F238E27FC236}">
                <a16:creationId xmlns:a16="http://schemas.microsoft.com/office/drawing/2014/main" id="{9A24B6A8-8EC4-D30E-66FF-B4661DA90E36}"/>
              </a:ext>
            </a:extLst>
          </p:cNvPr>
          <p:cNvSpPr txBox="1"/>
          <p:nvPr/>
        </p:nvSpPr>
        <p:spPr>
          <a:xfrm>
            <a:off x="1487488" y="526885"/>
            <a:ext cx="50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26DA51-0491-38BE-29C9-0FAD48450290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53720C5-F5E7-DEF2-C652-2206982CDDAB}"/>
              </a:ext>
            </a:extLst>
          </p:cNvPr>
          <p:cNvGrpSpPr/>
          <p:nvPr/>
        </p:nvGrpSpPr>
        <p:grpSpPr>
          <a:xfrm>
            <a:off x="5499934" y="946223"/>
            <a:ext cx="4012068" cy="226043"/>
            <a:chOff x="-1867458" y="928991"/>
            <a:chExt cx="4012068" cy="226043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63B74F48-E13F-BB80-EDC6-ABF1CA1080DB}"/>
                </a:ext>
              </a:extLst>
            </p:cNvPr>
            <p:cNvSpPr/>
            <p:nvPr/>
          </p:nvSpPr>
          <p:spPr>
            <a:xfrm>
              <a:off x="-1867458" y="928991"/>
              <a:ext cx="3472616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0" name="Input">
              <a:extLst>
                <a:ext uri="{FF2B5EF4-FFF2-40B4-BE49-F238E27FC236}">
                  <a16:creationId xmlns:a16="http://schemas.microsoft.com/office/drawing/2014/main" id="{210677A4-8A8B-C606-5F26-AE409EBF9F14}"/>
                </a:ext>
              </a:extLst>
            </p:cNvPr>
            <p:cNvSpPr/>
            <p:nvPr/>
          </p:nvSpPr>
          <p:spPr>
            <a:xfrm>
              <a:off x="1676610" y="928991"/>
              <a:ext cx="468000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검색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DDFBA5D-0F6B-9F08-377E-E57BCAB1BEA6}"/>
              </a:ext>
            </a:extLst>
          </p:cNvPr>
          <p:cNvGrpSpPr/>
          <p:nvPr/>
        </p:nvGrpSpPr>
        <p:grpSpPr>
          <a:xfrm>
            <a:off x="1630986" y="923336"/>
            <a:ext cx="3564005" cy="254966"/>
            <a:chOff x="3334896" y="906104"/>
            <a:chExt cx="3564005" cy="25496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67B3474F-6230-B406-870B-E4083A63AD3F}"/>
                </a:ext>
              </a:extLst>
            </p:cNvPr>
            <p:cNvGrpSpPr/>
            <p:nvPr/>
          </p:nvGrpSpPr>
          <p:grpSpPr>
            <a:xfrm>
              <a:off x="3334896" y="906104"/>
              <a:ext cx="2297659" cy="254966"/>
              <a:chOff x="3474029" y="894901"/>
              <a:chExt cx="2297659" cy="254966"/>
            </a:xfrm>
          </p:grpSpPr>
          <p:sp>
            <p:nvSpPr>
              <p:cNvPr id="52" name="TextBox 107">
                <a:extLst>
                  <a:ext uri="{FF2B5EF4-FFF2-40B4-BE49-F238E27FC236}">
                    <a16:creationId xmlns:a16="http://schemas.microsoft.com/office/drawing/2014/main" id="{84E79CF6-7C41-BC55-5C37-C83D07A47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4029" y="913911"/>
                <a:ext cx="369463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000" tIns="36000" rIns="36000" bIns="36000" anchor="ctr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ko-KR" altLang="en-US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rPr>
                  <a:t>기간</a:t>
                </a:r>
                <a:endParaRPr lang="en-US" altLang="ko-KR" sz="8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endParaRPr>
              </a:p>
            </p:txBody>
          </p: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30AD9CD0-67FD-028C-D5AA-20ACD2F4256D}"/>
                  </a:ext>
                </a:extLst>
              </p:cNvPr>
              <p:cNvGrpSpPr/>
              <p:nvPr/>
            </p:nvGrpSpPr>
            <p:grpSpPr>
              <a:xfrm>
                <a:off x="3847631" y="896796"/>
                <a:ext cx="889388" cy="253071"/>
                <a:chOff x="5162550" y="5326638"/>
                <a:chExt cx="889388" cy="253071"/>
              </a:xfrm>
            </p:grpSpPr>
            <p:sp>
              <p:nvSpPr>
                <p:cNvPr id="58" name="Input">
                  <a:extLst>
                    <a:ext uri="{FF2B5EF4-FFF2-40B4-BE49-F238E27FC236}">
                      <a16:creationId xmlns:a16="http://schemas.microsoft.com/office/drawing/2014/main" id="{B238BCE8-9AFD-B0E3-BF66-EEB8BEBFF015}"/>
                    </a:ext>
                  </a:extLst>
                </p:cNvPr>
                <p:cNvSpPr/>
                <p:nvPr/>
              </p:nvSpPr>
              <p:spPr>
                <a:xfrm>
                  <a:off x="5162550" y="5340727"/>
                  <a:ext cx="889388" cy="224895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72000" tIns="50400" rIns="72000" bIns="504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rPr>
                    <a:t>2025-12-12</a:t>
                  </a:r>
                  <a:endParaRPr 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59" name="그래픽 58" descr="플립 달력">
                  <a:extLst>
                    <a:ext uri="{FF2B5EF4-FFF2-40B4-BE49-F238E27FC236}">
                      <a16:creationId xmlns:a16="http://schemas.microsoft.com/office/drawing/2014/main" id="{FB78E71E-C490-31F9-74B2-22898386F6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8493" y="5326638"/>
                  <a:ext cx="253071" cy="253071"/>
                </a:xfrm>
                <a:prstGeom prst="rect">
                  <a:avLst/>
                </a:prstGeom>
              </p:spPr>
            </p:pic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42114156-2412-F07F-A682-A211D28CA09B}"/>
                  </a:ext>
                </a:extLst>
              </p:cNvPr>
              <p:cNvGrpSpPr/>
              <p:nvPr/>
            </p:nvGrpSpPr>
            <p:grpSpPr>
              <a:xfrm>
                <a:off x="4882300" y="894901"/>
                <a:ext cx="889388" cy="253071"/>
                <a:chOff x="5162550" y="5326638"/>
                <a:chExt cx="889388" cy="253071"/>
              </a:xfrm>
            </p:grpSpPr>
            <p:sp>
              <p:nvSpPr>
                <p:cNvPr id="56" name="Input">
                  <a:extLst>
                    <a:ext uri="{FF2B5EF4-FFF2-40B4-BE49-F238E27FC236}">
                      <a16:creationId xmlns:a16="http://schemas.microsoft.com/office/drawing/2014/main" id="{81774423-8642-6ABE-1E79-BC2E791CC59C}"/>
                    </a:ext>
                  </a:extLst>
                </p:cNvPr>
                <p:cNvSpPr/>
                <p:nvPr/>
              </p:nvSpPr>
              <p:spPr>
                <a:xfrm>
                  <a:off x="5162550" y="5340727"/>
                  <a:ext cx="889388" cy="224895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72000" tIns="50400" rIns="72000" bIns="504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rPr>
                    <a:t>2026-01-11</a:t>
                  </a:r>
                  <a:endParaRPr lang="en-US" sz="8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cs typeface="Segoe UI" panose="020B0502040204020203" pitchFamily="34" charset="0"/>
                  </a:endParaRPr>
                </a:p>
              </p:txBody>
            </p:sp>
            <p:pic>
              <p:nvPicPr>
                <p:cNvPr id="57" name="그래픽 56" descr="플립 달력">
                  <a:extLst>
                    <a:ext uri="{FF2B5EF4-FFF2-40B4-BE49-F238E27FC236}">
                      <a16:creationId xmlns:a16="http://schemas.microsoft.com/office/drawing/2014/main" id="{616B5158-B3FB-E7EB-1DCB-97B34F079D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8493" y="5326638"/>
                  <a:ext cx="253071" cy="253071"/>
                </a:xfrm>
                <a:prstGeom prst="rect">
                  <a:avLst/>
                </a:prstGeom>
              </p:spPr>
            </p:pic>
          </p:grpSp>
          <p:sp>
            <p:nvSpPr>
              <p:cNvPr id="55" name="TextBox 107">
                <a:extLst>
                  <a:ext uri="{FF2B5EF4-FFF2-40B4-BE49-F238E27FC236}">
                    <a16:creationId xmlns:a16="http://schemas.microsoft.com/office/drawing/2014/main" id="{9FC76610-6069-FB69-C87D-ECE733747C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4960" y="923529"/>
                <a:ext cx="137346" cy="195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36000" tIns="36000" rIns="36000" bIns="36000" anchor="ctr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en-US" altLang="ko-KR" sz="80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rPr>
                  <a:t>~</a:t>
                </a:r>
                <a:endParaRPr lang="en-US" altLang="ko-KR" sz="8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endParaRPr>
              </a:p>
            </p:txBody>
          </p:sp>
        </p:grpSp>
        <p:sp>
          <p:nvSpPr>
            <p:cNvPr id="49" name="Input">
              <a:extLst>
                <a:ext uri="{FF2B5EF4-FFF2-40B4-BE49-F238E27FC236}">
                  <a16:creationId xmlns:a16="http://schemas.microsoft.com/office/drawing/2014/main" id="{93B3397D-17D7-EECC-50A6-9B96EE4F078B}"/>
                </a:ext>
              </a:extLst>
            </p:cNvPr>
            <p:cNvSpPr/>
            <p:nvPr/>
          </p:nvSpPr>
          <p:spPr>
            <a:xfrm>
              <a:off x="5680947" y="913921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개월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A0D3D553-A58F-D459-741B-2B184129ECB7}"/>
                </a:ext>
              </a:extLst>
            </p:cNvPr>
            <p:cNvSpPr/>
            <p:nvPr/>
          </p:nvSpPr>
          <p:spPr>
            <a:xfrm>
              <a:off x="6107760" y="916439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3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개월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895C8299-2A08-322A-40A6-7C75859F4AF4}"/>
                </a:ext>
              </a:extLst>
            </p:cNvPr>
            <p:cNvSpPr/>
            <p:nvPr/>
          </p:nvSpPr>
          <p:spPr>
            <a:xfrm>
              <a:off x="6527696" y="916439"/>
              <a:ext cx="371205" cy="243884"/>
            </a:xfrm>
            <a:prstGeom prst="roundRect">
              <a:avLst>
                <a:gd name="adj" fmla="val 23718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36000" rIns="0" bIns="360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년</a:t>
              </a:r>
              <a:endParaRPr lang="en-US" sz="9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06B616A8-FA53-325A-8F77-0EC9112300CA}"/>
              </a:ext>
            </a:extLst>
          </p:cNvPr>
          <p:cNvSpPr txBox="1"/>
          <p:nvPr/>
        </p:nvSpPr>
        <p:spPr>
          <a:xfrm>
            <a:off x="1558300" y="1401221"/>
            <a:ext cx="1112386" cy="215444"/>
          </a:xfrm>
          <a:prstGeom prst="rect">
            <a:avLst/>
          </a:prstGeom>
          <a:noFill/>
        </p:spPr>
        <p:txBody>
          <a:bodyPr wrap="none" lIns="18000" rtlCol="0" anchor="ctr">
            <a:spAutoFit/>
          </a:bodyPr>
          <a:lstStyle/>
          <a:p>
            <a:pPr algn="l"/>
            <a:r>
              <a:rPr lang="ko-KR" altLang="en-US" sz="800" dirty="0"/>
              <a:t>총 </a:t>
            </a:r>
            <a:r>
              <a:rPr lang="en-US" altLang="ko-KR" sz="800" b="1" dirty="0"/>
              <a:t>10</a:t>
            </a:r>
            <a:r>
              <a:rPr lang="ko-KR" altLang="en-US" sz="800" dirty="0"/>
              <a:t>건  </a:t>
            </a:r>
            <a:r>
              <a:rPr lang="en-US" altLang="ko-KR" sz="800" dirty="0"/>
              <a:t>|  </a:t>
            </a:r>
            <a:r>
              <a:rPr lang="ko-KR" altLang="en-US" sz="800" dirty="0"/>
              <a:t>페이지 </a:t>
            </a:r>
            <a:r>
              <a:rPr lang="en-US" altLang="ko-KR" sz="800" b="1" dirty="0"/>
              <a:t>1</a:t>
            </a:r>
            <a:r>
              <a:rPr lang="en-US" altLang="ko-KR" sz="800" dirty="0"/>
              <a:t>/1</a:t>
            </a:r>
            <a:r>
              <a:rPr lang="ko-KR" altLang="en-US" sz="800" dirty="0"/>
              <a:t> </a:t>
            </a:r>
          </a:p>
        </p:txBody>
      </p:sp>
      <p:graphicFrame>
        <p:nvGraphicFramePr>
          <p:cNvPr id="1026" name="표 1025">
            <a:extLst>
              <a:ext uri="{FF2B5EF4-FFF2-40B4-BE49-F238E27FC236}">
                <a16:creationId xmlns:a16="http://schemas.microsoft.com/office/drawing/2014/main" id="{63779ACE-5125-2402-AB57-2EDD2284B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28596"/>
              </p:ext>
            </p:extLst>
          </p:nvPr>
        </p:nvGraphicFramePr>
        <p:xfrm>
          <a:off x="1558925" y="1622542"/>
          <a:ext cx="8028902" cy="294354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6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5705">
                  <a:extLst>
                    <a:ext uri="{9D8B030D-6E8A-4147-A177-3AD203B41FA5}">
                      <a16:colId xmlns:a16="http://schemas.microsoft.com/office/drawing/2014/main" val="3133292324"/>
                    </a:ext>
                  </a:extLst>
                </a:gridCol>
                <a:gridCol w="8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0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진단상태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진단일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10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차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9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(20260410)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8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7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(20260305)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6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5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027" name="Pagination">
            <a:extLst>
              <a:ext uri="{FF2B5EF4-FFF2-40B4-BE49-F238E27FC236}">
                <a16:creationId xmlns:a16="http://schemas.microsoft.com/office/drawing/2014/main" id="{DDBD6657-5927-AA17-E7F3-430A6C20D86C}"/>
              </a:ext>
            </a:extLst>
          </p:cNvPr>
          <p:cNvGrpSpPr/>
          <p:nvPr/>
        </p:nvGrpSpPr>
        <p:grpSpPr>
          <a:xfrm>
            <a:off x="3700177" y="473417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033" name="Previous">
              <a:extLst>
                <a:ext uri="{FF2B5EF4-FFF2-40B4-BE49-F238E27FC236}">
                  <a16:creationId xmlns:a16="http://schemas.microsoft.com/office/drawing/2014/main" id="{6792A3F8-A5DD-EE46-8EFF-A0E123F3AF7E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034" name="Page 1">
              <a:extLst>
                <a:ext uri="{FF2B5EF4-FFF2-40B4-BE49-F238E27FC236}">
                  <a16:creationId xmlns:a16="http://schemas.microsoft.com/office/drawing/2014/main" id="{224081E0-9957-4C06-29B6-0783A2A35FAE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035" name="Page 2">
              <a:extLst>
                <a:ext uri="{FF2B5EF4-FFF2-40B4-BE49-F238E27FC236}">
                  <a16:creationId xmlns:a16="http://schemas.microsoft.com/office/drawing/2014/main" id="{F2BFE003-B4FC-367D-91CA-E2AE0EF5990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036" name="Page 3">
              <a:extLst>
                <a:ext uri="{FF2B5EF4-FFF2-40B4-BE49-F238E27FC236}">
                  <a16:creationId xmlns:a16="http://schemas.microsoft.com/office/drawing/2014/main" id="{A195DB07-CABB-8D0B-6F81-595A09BF8B8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037" name="Page 4">
              <a:extLst>
                <a:ext uri="{FF2B5EF4-FFF2-40B4-BE49-F238E27FC236}">
                  <a16:creationId xmlns:a16="http://schemas.microsoft.com/office/drawing/2014/main" id="{0BC5BC7F-2521-5B4B-0FC0-30BAD31525B9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038" name="Page 5">
              <a:extLst>
                <a:ext uri="{FF2B5EF4-FFF2-40B4-BE49-F238E27FC236}">
                  <a16:creationId xmlns:a16="http://schemas.microsoft.com/office/drawing/2014/main" id="{6742B776-AD1F-18FB-F2B3-875B148660F2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039" name="Next">
              <a:extLst>
                <a:ext uri="{FF2B5EF4-FFF2-40B4-BE49-F238E27FC236}">
                  <a16:creationId xmlns:a16="http://schemas.microsoft.com/office/drawing/2014/main" id="{0EB862E5-2B53-F28A-75C0-8EB75B2D4CE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040" name="Page 1">
              <a:extLst>
                <a:ext uri="{FF2B5EF4-FFF2-40B4-BE49-F238E27FC236}">
                  <a16:creationId xmlns:a16="http://schemas.microsoft.com/office/drawing/2014/main" id="{0983666D-2C97-3C73-C31B-D799332576C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041" name="Page 2">
              <a:extLst>
                <a:ext uri="{FF2B5EF4-FFF2-40B4-BE49-F238E27FC236}">
                  <a16:creationId xmlns:a16="http://schemas.microsoft.com/office/drawing/2014/main" id="{515762F8-408A-BF73-DC67-BD6EB8575A88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042" name="Page 3">
              <a:extLst>
                <a:ext uri="{FF2B5EF4-FFF2-40B4-BE49-F238E27FC236}">
                  <a16:creationId xmlns:a16="http://schemas.microsoft.com/office/drawing/2014/main" id="{7A17AFF5-A8FF-00EB-9695-57BECBD0B466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47" name="Page 4">
              <a:extLst>
                <a:ext uri="{FF2B5EF4-FFF2-40B4-BE49-F238E27FC236}">
                  <a16:creationId xmlns:a16="http://schemas.microsoft.com/office/drawing/2014/main" id="{9C34F5B3-FFEA-5BE1-62D2-2E5420655FE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48" name="Page 5">
              <a:extLst>
                <a:ext uri="{FF2B5EF4-FFF2-40B4-BE49-F238E27FC236}">
                  <a16:creationId xmlns:a16="http://schemas.microsoft.com/office/drawing/2014/main" id="{6529FFF8-EE15-CE71-171F-D9B624F3D116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56" name="Page 5">
              <a:extLst>
                <a:ext uri="{FF2B5EF4-FFF2-40B4-BE49-F238E27FC236}">
                  <a16:creationId xmlns:a16="http://schemas.microsoft.com/office/drawing/2014/main" id="{1DC91EDF-7E8B-8EAD-5254-0062CAB9469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57" name="Page 2">
              <a:extLst>
                <a:ext uri="{FF2B5EF4-FFF2-40B4-BE49-F238E27FC236}">
                  <a16:creationId xmlns:a16="http://schemas.microsoft.com/office/drawing/2014/main" id="{76DC5EAA-162D-E8A1-24C0-6E20744CDBB1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58" name="타원 1057">
            <a:extLst>
              <a:ext uri="{FF2B5EF4-FFF2-40B4-BE49-F238E27FC236}">
                <a16:creationId xmlns:a16="http://schemas.microsoft.com/office/drawing/2014/main" id="{E7DC8275-1A8F-4811-D6CA-68C5E9606642}"/>
              </a:ext>
            </a:extLst>
          </p:cNvPr>
          <p:cNvSpPr/>
          <p:nvPr/>
        </p:nvSpPr>
        <p:spPr>
          <a:xfrm>
            <a:off x="1499670" y="8525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9" name="타원 1058">
            <a:extLst>
              <a:ext uri="{FF2B5EF4-FFF2-40B4-BE49-F238E27FC236}">
                <a16:creationId xmlns:a16="http://schemas.microsoft.com/office/drawing/2014/main" id="{BAECAA06-09BC-B363-81C6-17263345A7FA}"/>
              </a:ext>
            </a:extLst>
          </p:cNvPr>
          <p:cNvSpPr/>
          <p:nvPr/>
        </p:nvSpPr>
        <p:spPr>
          <a:xfrm>
            <a:off x="1499670" y="158733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1" name="직사각형 1060">
            <a:extLst>
              <a:ext uri="{FF2B5EF4-FFF2-40B4-BE49-F238E27FC236}">
                <a16:creationId xmlns:a16="http://schemas.microsoft.com/office/drawing/2014/main" id="{A8C8152B-5A66-C0C1-7C79-0D0A20A4A653}"/>
              </a:ext>
            </a:extLst>
          </p:cNvPr>
          <p:cNvSpPr/>
          <p:nvPr/>
        </p:nvSpPr>
        <p:spPr>
          <a:xfrm>
            <a:off x="1522023" y="1855043"/>
            <a:ext cx="8100386" cy="329358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2" name="타원 1061">
            <a:extLst>
              <a:ext uri="{FF2B5EF4-FFF2-40B4-BE49-F238E27FC236}">
                <a16:creationId xmlns:a16="http://schemas.microsoft.com/office/drawing/2014/main" id="{7C36444D-114B-6821-07AB-974ADE8FFAF9}"/>
              </a:ext>
            </a:extLst>
          </p:cNvPr>
          <p:cNvSpPr/>
          <p:nvPr/>
        </p:nvSpPr>
        <p:spPr>
          <a:xfrm>
            <a:off x="1487488" y="180277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72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F7EF718-7284-4695-536D-86E800741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DA44595-27B6-D1ED-1B70-511CEC5A12C4}"/>
              </a:ext>
            </a:extLst>
          </p:cNvPr>
          <p:cNvGrpSpPr/>
          <p:nvPr/>
        </p:nvGrpSpPr>
        <p:grpSpPr>
          <a:xfrm>
            <a:off x="1558925" y="1308961"/>
            <a:ext cx="3918305" cy="3017739"/>
            <a:chOff x="1558925" y="873125"/>
            <a:chExt cx="3918305" cy="3017739"/>
          </a:xfrm>
        </p:grpSpPr>
        <p:sp>
          <p:nvSpPr>
            <p:cNvPr id="63" name="사각형: 둥근 위쪽 모서리 62">
              <a:extLst>
                <a:ext uri="{FF2B5EF4-FFF2-40B4-BE49-F238E27FC236}">
                  <a16:creationId xmlns:a16="http://schemas.microsoft.com/office/drawing/2014/main" id="{3B440F65-D454-583B-CC1E-DCB44BE3CB2C}"/>
                </a:ext>
              </a:extLst>
            </p:cNvPr>
            <p:cNvSpPr/>
            <p:nvPr/>
          </p:nvSpPr>
          <p:spPr>
            <a:xfrm>
              <a:off x="1563145" y="873125"/>
              <a:ext cx="3914084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5</a:t>
              </a:r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대 핵심역량</a:t>
              </a: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37BA267-3BF0-F8C0-0DC3-8D8BE86ADE69}"/>
                </a:ext>
              </a:extLst>
            </p:cNvPr>
            <p:cNvSpPr/>
            <p:nvPr/>
          </p:nvSpPr>
          <p:spPr>
            <a:xfrm>
              <a:off x="1558925" y="1148584"/>
              <a:ext cx="3918305" cy="27422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pic>
        <p:nvPicPr>
          <p:cNvPr id="1060" name="그림 1059">
            <a:extLst>
              <a:ext uri="{FF2B5EF4-FFF2-40B4-BE49-F238E27FC236}">
                <a16:creationId xmlns:a16="http://schemas.microsoft.com/office/drawing/2014/main" id="{DE4F7DAF-C962-27AB-E62B-3529CF3E1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93" y="1658893"/>
            <a:ext cx="3628168" cy="2544756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5AD7D4D-6777-A89B-0CD4-59976B6B56C0}"/>
              </a:ext>
            </a:extLst>
          </p:cNvPr>
          <p:cNvGrpSpPr/>
          <p:nvPr/>
        </p:nvGrpSpPr>
        <p:grpSpPr>
          <a:xfrm>
            <a:off x="5603134" y="1308961"/>
            <a:ext cx="3914086" cy="3017740"/>
            <a:chOff x="5603134" y="873125"/>
            <a:chExt cx="3914086" cy="3017740"/>
          </a:xfrm>
        </p:grpSpPr>
        <p:sp>
          <p:nvSpPr>
            <p:cNvPr id="100" name="사각형: 둥근 위쪽 모서리 99">
              <a:extLst>
                <a:ext uri="{FF2B5EF4-FFF2-40B4-BE49-F238E27FC236}">
                  <a16:creationId xmlns:a16="http://schemas.microsoft.com/office/drawing/2014/main" id="{04E8E1E0-B555-8145-5666-FCE41C96C356}"/>
                </a:ext>
              </a:extLst>
            </p:cNvPr>
            <p:cNvSpPr/>
            <p:nvPr/>
          </p:nvSpPr>
          <p:spPr>
            <a:xfrm>
              <a:off x="5603135" y="873125"/>
              <a:ext cx="3914084" cy="284111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역량 진단 결과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C197DFFB-6B0B-33BC-0A84-F60D5822FC6E}"/>
                </a:ext>
              </a:extLst>
            </p:cNvPr>
            <p:cNvSpPr/>
            <p:nvPr/>
          </p:nvSpPr>
          <p:spPr>
            <a:xfrm>
              <a:off x="5603134" y="1148585"/>
              <a:ext cx="3914086" cy="27422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B6F8B44-E2EA-8F63-ED7A-6E27E9F987A7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A03CCFE-FF0B-657E-735B-D132E292EFC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4D00C3BB-5040-BFDD-A499-8774B8CABE0F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4F18DA24-0559-F3B1-F13B-7BF46499D1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602656"/>
              </p:ext>
            </p:extLst>
          </p:nvPr>
        </p:nvGraphicFramePr>
        <p:xfrm>
          <a:off x="9655174" y="276226"/>
          <a:ext cx="2532687" cy="487463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역량진단 결과 화면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메뉴로 진입 시 최종 진단 결화를 출력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 진단 제목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설문 진행 일자를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제출 일자 기준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설문을 통한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진단 평균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점수값를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차트로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연구평가 기준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 진단결과를 함께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요약정보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 이상의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결과를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 이하의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결과를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3-3.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참여자 평균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연구평가 기준 점수를 표로 결과값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3-4.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종합 안내 문구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 내용은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에서 진단 결과를 반영한 내용으로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핵심역량 진단 추이 변화 비교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현재 진단 설문 결과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4-3.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비교대상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1, 2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자동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색상 및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bold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적용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4-4.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결과에 대한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 점수 값을 차트로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대상이 동일한 경우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alert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(F-02-003)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점수 계신 시 관리자단에서 등록한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가중치값을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반영하여 점수 계산하여</a:t>
                      </a: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 되어야 합니다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accent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4-5.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비교 대상 선택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다른 차수 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선택 영역에 내가 진행한 다른 차수 대상이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유사그룹 비교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나와 같은 그룹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수석교사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교육전문직원 중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해당 진단결과를 비교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4-2</a:t>
                      </a:r>
                      <a:r>
                        <a:rPr lang="ko-KR" altLang="en-US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선택 영역</a:t>
                      </a:r>
                      <a:r>
                        <a:rPr lang="en-US" altLang="ko-KR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1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비활성화</a:t>
                      </a:r>
                      <a:endParaRPr lang="en-US" altLang="ko-KR" sz="800" b="1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3655F09-2B0D-378F-70DF-BB9A90B967E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46436-C8C2-5041-8F9D-C8E2734E415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729B2-9AD3-73B3-0681-60260C7CD7F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72AC0D-9961-9D4E-DBA2-62C6254A8E0F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70F9035-BF1C-D45F-1C75-388FCA4809BE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67026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역량진단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 역량진단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  <a:sym typeface="Arial"/>
                        </a:rPr>
                        <a:t>나의 진단결과</a:t>
                      </a:r>
                      <a:endParaRPr kumimoji="1" lang="en-US" altLang="ko-KR" sz="900" b="1" i="0" u="sng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2E3FB2F-B1B1-B588-60E2-580A8F1F684E}"/>
              </a:ext>
            </a:extLst>
          </p:cNvPr>
          <p:cNvGrpSpPr/>
          <p:nvPr/>
        </p:nvGrpSpPr>
        <p:grpSpPr>
          <a:xfrm>
            <a:off x="1551786" y="4408982"/>
            <a:ext cx="7962278" cy="2214010"/>
            <a:chOff x="1554785" y="4047794"/>
            <a:chExt cx="7962278" cy="2214010"/>
          </a:xfrm>
        </p:grpSpPr>
        <p:sp>
          <p:nvSpPr>
            <p:cNvPr id="103" name="사각형: 둥근 위쪽 모서리 102">
              <a:extLst>
                <a:ext uri="{FF2B5EF4-FFF2-40B4-BE49-F238E27FC236}">
                  <a16:creationId xmlns:a16="http://schemas.microsoft.com/office/drawing/2014/main" id="{16EBAF6F-40F7-4655-7CCC-C9D15C6B4075}"/>
                </a:ext>
              </a:extLst>
            </p:cNvPr>
            <p:cNvSpPr/>
            <p:nvPr/>
          </p:nvSpPr>
          <p:spPr>
            <a:xfrm>
              <a:off x="1554785" y="4047794"/>
              <a:ext cx="7962276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나의 핵심역량 추이 비교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4E740CD1-194D-B53E-5472-BFE8894C800C}"/>
                </a:ext>
              </a:extLst>
            </p:cNvPr>
            <p:cNvSpPr/>
            <p:nvPr/>
          </p:nvSpPr>
          <p:spPr>
            <a:xfrm>
              <a:off x="1558924" y="4323254"/>
              <a:ext cx="7958139" cy="19385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2DA1FBFF-FB7E-B972-C1AD-82E783EDDF87}"/>
              </a:ext>
            </a:extLst>
          </p:cNvPr>
          <p:cNvSpPr txBox="1"/>
          <p:nvPr/>
        </p:nvSpPr>
        <p:spPr>
          <a:xfrm>
            <a:off x="1487488" y="526885"/>
            <a:ext cx="5081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3AE31DE5-9576-C1F7-7732-A847D129334E}"/>
              </a:ext>
            </a:extLst>
          </p:cNvPr>
          <p:cNvSpPr/>
          <p:nvPr/>
        </p:nvSpPr>
        <p:spPr>
          <a:xfrm>
            <a:off x="4036540" y="5663137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36A1A090-8825-8928-95D8-C7E8C0CDC833}"/>
              </a:ext>
            </a:extLst>
          </p:cNvPr>
          <p:cNvSpPr/>
          <p:nvPr/>
        </p:nvSpPr>
        <p:spPr>
          <a:xfrm>
            <a:off x="4036540" y="6050084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35FEF4D-1D47-D977-19A0-08DF64D20C4B}"/>
              </a:ext>
            </a:extLst>
          </p:cNvPr>
          <p:cNvSpPr txBox="1"/>
          <p:nvPr/>
        </p:nvSpPr>
        <p:spPr>
          <a:xfrm>
            <a:off x="1558926" y="5401687"/>
            <a:ext cx="673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단위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: %)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44" name="사각형: 둥근 모서리 1043">
            <a:extLst>
              <a:ext uri="{FF2B5EF4-FFF2-40B4-BE49-F238E27FC236}">
                <a16:creationId xmlns:a16="http://schemas.microsoft.com/office/drawing/2014/main" id="{E2876156-D431-4858-FCA4-424CA2491342}"/>
              </a:ext>
            </a:extLst>
          </p:cNvPr>
          <p:cNvSpPr/>
          <p:nvPr/>
        </p:nvSpPr>
        <p:spPr>
          <a:xfrm>
            <a:off x="4002585" y="5777540"/>
            <a:ext cx="3835170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76</a:t>
            </a:r>
            <a:endParaRPr lang="ko-KR" altLang="en-US" sz="900" dirty="0"/>
          </a:p>
        </p:txBody>
      </p:sp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B28113C4-BFBB-A111-D250-8D4E9B1D620C}"/>
              </a:ext>
            </a:extLst>
          </p:cNvPr>
          <p:cNvSpPr/>
          <p:nvPr/>
        </p:nvSpPr>
        <p:spPr>
          <a:xfrm>
            <a:off x="4006705" y="6164487"/>
            <a:ext cx="3410095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335D7A4E-221B-A4DB-4B61-3AF29980EBB8}"/>
              </a:ext>
            </a:extLst>
          </p:cNvPr>
          <p:cNvSpPr txBox="1"/>
          <p:nvPr/>
        </p:nvSpPr>
        <p:spPr>
          <a:xfrm>
            <a:off x="5622119" y="1675353"/>
            <a:ext cx="6551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강점역량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6110DAAC-283F-F405-6C2F-9E054E171D08}"/>
              </a:ext>
            </a:extLst>
          </p:cNvPr>
          <p:cNvSpPr txBox="1"/>
          <p:nvPr/>
        </p:nvSpPr>
        <p:spPr>
          <a:xfrm>
            <a:off x="5622119" y="1958263"/>
            <a:ext cx="6369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약점역량</a:t>
            </a:r>
          </a:p>
        </p:txBody>
      </p:sp>
      <p:sp>
        <p:nvSpPr>
          <p:cNvPr id="1051" name="직사각형 1050">
            <a:extLst>
              <a:ext uri="{FF2B5EF4-FFF2-40B4-BE49-F238E27FC236}">
                <a16:creationId xmlns:a16="http://schemas.microsoft.com/office/drawing/2014/main" id="{201C22D1-3401-4D37-EB29-01EF1EDB2172}"/>
              </a:ext>
            </a:extLst>
          </p:cNvPr>
          <p:cNvSpPr/>
          <p:nvPr/>
        </p:nvSpPr>
        <p:spPr>
          <a:xfrm>
            <a:off x="6255209" y="1678358"/>
            <a:ext cx="856541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교육과정 설계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D98E7FAF-8D33-5ADA-A434-5C754547CEDD}"/>
              </a:ext>
            </a:extLst>
          </p:cNvPr>
          <p:cNvSpPr/>
          <p:nvPr/>
        </p:nvSpPr>
        <p:spPr>
          <a:xfrm>
            <a:off x="7162184" y="1678358"/>
            <a:ext cx="650039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생활교육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8D866071-5C15-D598-2D13-923227B1F7BF}"/>
              </a:ext>
            </a:extLst>
          </p:cNvPr>
          <p:cNvSpPr/>
          <p:nvPr/>
        </p:nvSpPr>
        <p:spPr>
          <a:xfrm>
            <a:off x="7853407" y="1678358"/>
            <a:ext cx="953179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변화관리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디지털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CD9123A5-4B05-E9CE-149C-B1590A11D55F}"/>
              </a:ext>
            </a:extLst>
          </p:cNvPr>
          <p:cNvSpPr/>
          <p:nvPr/>
        </p:nvSpPr>
        <p:spPr>
          <a:xfrm>
            <a:off x="6255209" y="1959629"/>
            <a:ext cx="1013063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수업운영 및  평가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DAAC3718-9350-7706-B8D3-3DD8DA6A203D}"/>
              </a:ext>
            </a:extLst>
          </p:cNvPr>
          <p:cNvSpPr/>
          <p:nvPr/>
        </p:nvSpPr>
        <p:spPr>
          <a:xfrm>
            <a:off x="7318706" y="1959629"/>
            <a:ext cx="792477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  <a:latin typeface="+mn-ea"/>
              </a:rPr>
              <a:t>소통 및 협력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C255ECA-C4CF-0D3A-5257-043E62B15A04}"/>
              </a:ext>
            </a:extLst>
          </p:cNvPr>
          <p:cNvGraphicFramePr>
            <a:graphicFrameLocks noGrp="1"/>
          </p:cNvGraphicFramePr>
          <p:nvPr/>
        </p:nvGraphicFramePr>
        <p:xfrm>
          <a:off x="5680745" y="2251112"/>
          <a:ext cx="3763296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62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83378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0B6746B-3CCA-8ABE-B26B-7269F48099D7}"/>
              </a:ext>
            </a:extLst>
          </p:cNvPr>
          <p:cNvSpPr txBox="1"/>
          <p:nvPr/>
        </p:nvSpPr>
        <p:spPr>
          <a:xfrm>
            <a:off x="5622119" y="3582716"/>
            <a:ext cx="12914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나눔고딕" pitchFamily="2" charset="-127"/>
                <a:ea typeface="나눔고딕" pitchFamily="2" charset="-127"/>
              </a:rPr>
              <a:t>진단 결과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074D0-33EF-1C6B-F40C-2FCF15146731}"/>
              </a:ext>
            </a:extLst>
          </p:cNvPr>
          <p:cNvSpPr txBox="1"/>
          <p:nvPr/>
        </p:nvSpPr>
        <p:spPr>
          <a:xfrm>
            <a:off x="5622120" y="3787910"/>
            <a:ext cx="39140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변화에 능동적이고 교육에 대한 역할과 업무에 집중하여 성과를 내고 있습니다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 </a:t>
            </a:r>
          </a:p>
          <a:p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구성원과 조직 전반의 소통과 운영 향상에 집중해보세요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.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 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F2B5346-3C72-FBA9-1ED8-0A6B4F821E35}"/>
              </a:ext>
            </a:extLst>
          </p:cNvPr>
          <p:cNvSpPr/>
          <p:nvPr/>
        </p:nvSpPr>
        <p:spPr>
          <a:xfrm>
            <a:off x="1631950" y="5663136"/>
            <a:ext cx="1037748" cy="7777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5D149C31-1BD5-DE40-31FA-05ED77B93917}"/>
              </a:ext>
            </a:extLst>
          </p:cNvPr>
          <p:cNvSpPr/>
          <p:nvPr/>
        </p:nvSpPr>
        <p:spPr>
          <a:xfrm>
            <a:off x="2669697" y="5663137"/>
            <a:ext cx="1366844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설계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289382B1-7900-000E-CBCE-E9D25764E704}"/>
              </a:ext>
            </a:extLst>
          </p:cNvPr>
          <p:cNvSpPr/>
          <p:nvPr/>
        </p:nvSpPr>
        <p:spPr>
          <a:xfrm>
            <a:off x="2669697" y="6050084"/>
            <a:ext cx="1366843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수업운영 및 평가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7FBD2FB-14C6-ED67-CF9E-CF9080740553}"/>
              </a:ext>
            </a:extLst>
          </p:cNvPr>
          <p:cNvSpPr/>
          <p:nvPr/>
        </p:nvSpPr>
        <p:spPr>
          <a:xfrm>
            <a:off x="1492012" y="15787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F5271A-7D68-2EDB-F3F9-85E3B3AA33EE}"/>
              </a:ext>
            </a:extLst>
          </p:cNvPr>
          <p:cNvSpPr/>
          <p:nvPr/>
        </p:nvSpPr>
        <p:spPr>
          <a:xfrm>
            <a:off x="5571313" y="157189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6FDAE70-04B4-1B2E-BA04-F690CA29EEC4}"/>
              </a:ext>
            </a:extLst>
          </p:cNvPr>
          <p:cNvSpPr/>
          <p:nvPr/>
        </p:nvSpPr>
        <p:spPr>
          <a:xfrm>
            <a:off x="2884402" y="86162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AC15F-E574-DAA4-0CB4-198A3E3983CF}"/>
              </a:ext>
            </a:extLst>
          </p:cNvPr>
          <p:cNvSpPr txBox="1"/>
          <p:nvPr/>
        </p:nvSpPr>
        <p:spPr>
          <a:xfrm>
            <a:off x="2483861" y="883054"/>
            <a:ext cx="6107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40826" latinLnBrk="1">
              <a:spcAft>
                <a:spcPts val="400"/>
              </a:spcAft>
              <a:buClrTx/>
              <a:defRPr/>
            </a:pP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2026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년도 경기교원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교사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) 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핵심역량진단 설문 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분기</a:t>
            </a:r>
            <a:r>
              <a:rPr lang="en-US" altLang="ko-KR" sz="1400" b="1" dirty="0">
                <a:solidFill>
                  <a:srgbClr val="000000"/>
                </a:solidFill>
                <a:latin typeface="나눔고딕" pitchFamily="2" charset="-127"/>
                <a:ea typeface="나눔고딕" pitchFamily="2" charset="-127"/>
              </a:rPr>
              <a:t>(20260420)</a:t>
            </a:r>
            <a:endParaRPr lang="ko-KR" altLang="en-US" sz="1400" b="1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A273E91-AEB3-A259-876A-4DE15E66348D}"/>
              </a:ext>
            </a:extLst>
          </p:cNvPr>
          <p:cNvSpPr/>
          <p:nvPr/>
        </p:nvSpPr>
        <p:spPr>
          <a:xfrm>
            <a:off x="6131811" y="162392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6D2A694-5A32-AA70-805A-68E82108179A}"/>
              </a:ext>
            </a:extLst>
          </p:cNvPr>
          <p:cNvSpPr/>
          <p:nvPr/>
        </p:nvSpPr>
        <p:spPr>
          <a:xfrm>
            <a:off x="6131811" y="191073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94C99B9-7276-6774-1F07-C56E3058331C}"/>
              </a:ext>
            </a:extLst>
          </p:cNvPr>
          <p:cNvSpPr/>
          <p:nvPr/>
        </p:nvSpPr>
        <p:spPr>
          <a:xfrm>
            <a:off x="5635551" y="223829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2079BD4-00B4-0773-5B0B-A70328563B02}"/>
              </a:ext>
            </a:extLst>
          </p:cNvPr>
          <p:cNvSpPr/>
          <p:nvPr/>
        </p:nvSpPr>
        <p:spPr>
          <a:xfrm>
            <a:off x="5645574" y="35494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B123C8B-A5D6-5D55-A589-23B0AD212F06}"/>
              </a:ext>
            </a:extLst>
          </p:cNvPr>
          <p:cNvSpPr/>
          <p:nvPr/>
        </p:nvSpPr>
        <p:spPr>
          <a:xfrm>
            <a:off x="7529343" y="538366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B59503D-154F-E3DC-981F-43148E43499A}"/>
              </a:ext>
            </a:extLst>
          </p:cNvPr>
          <p:cNvSpPr/>
          <p:nvPr/>
        </p:nvSpPr>
        <p:spPr>
          <a:xfrm>
            <a:off x="1558925" y="564712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83FA3FD-79DC-C601-E7DC-65DF40E0F998}"/>
              </a:ext>
            </a:extLst>
          </p:cNvPr>
          <p:cNvSpPr/>
          <p:nvPr/>
        </p:nvSpPr>
        <p:spPr>
          <a:xfrm>
            <a:off x="7009783" y="83495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2493A96-7E35-FAB4-4140-62ED4A8304F8}"/>
              </a:ext>
            </a:extLst>
          </p:cNvPr>
          <p:cNvGrpSpPr/>
          <p:nvPr/>
        </p:nvGrpSpPr>
        <p:grpSpPr>
          <a:xfrm>
            <a:off x="7731223" y="5392399"/>
            <a:ext cx="1816796" cy="230832"/>
            <a:chOff x="7731223" y="5129931"/>
            <a:chExt cx="1816796" cy="230832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797DEF9-9C60-F9D3-624A-323BE2E38654}"/>
                </a:ext>
              </a:extLst>
            </p:cNvPr>
            <p:cNvSpPr txBox="1"/>
            <p:nvPr/>
          </p:nvSpPr>
          <p:spPr>
            <a:xfrm>
              <a:off x="7837755" y="5129931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1 </a:t>
              </a:r>
              <a:endParaRPr lang="ko-KR" altLang="en-US" sz="9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9BF740C-263D-8BFD-7641-1DB7239B50AD}"/>
                </a:ext>
              </a:extLst>
            </p:cNvPr>
            <p:cNvSpPr txBox="1"/>
            <p:nvPr/>
          </p:nvSpPr>
          <p:spPr>
            <a:xfrm>
              <a:off x="8741188" y="5129931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rPr>
                <a:t>2 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2BB09C5-6613-4DFE-B235-EB19B73DBA42}"/>
                </a:ext>
              </a:extLst>
            </p:cNvPr>
            <p:cNvSpPr/>
            <p:nvPr/>
          </p:nvSpPr>
          <p:spPr>
            <a:xfrm>
              <a:off x="7731223" y="5182315"/>
              <a:ext cx="162000" cy="14869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BAB08E8-0384-A4E6-D10F-E5DAD01DE5E8}"/>
                </a:ext>
              </a:extLst>
            </p:cNvPr>
            <p:cNvSpPr/>
            <p:nvPr/>
          </p:nvSpPr>
          <p:spPr>
            <a:xfrm>
              <a:off x="8636812" y="5182315"/>
              <a:ext cx="162000" cy="1486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24E98F4-BCA5-11FB-DB1D-F3337F787B18}"/>
              </a:ext>
            </a:extLst>
          </p:cNvPr>
          <p:cNvGrpSpPr/>
          <p:nvPr/>
        </p:nvGrpSpPr>
        <p:grpSpPr>
          <a:xfrm>
            <a:off x="7490572" y="4756072"/>
            <a:ext cx="2137796" cy="241210"/>
            <a:chOff x="6491499" y="4815340"/>
            <a:chExt cx="2137796" cy="24121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A9B2354-B3DA-3954-2D1F-E4140F6A4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499" y="4839023"/>
              <a:ext cx="165600" cy="16560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671A634-C449-CF79-EE23-FB648721E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8400" y="4839023"/>
              <a:ext cx="165600" cy="1656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C65A5FF-1175-41DA-16E8-F5F1AB64C7B9}"/>
                </a:ext>
              </a:extLst>
            </p:cNvPr>
            <p:cNvSpPr txBox="1"/>
            <p:nvPr/>
          </p:nvSpPr>
          <p:spPr>
            <a:xfrm>
              <a:off x="6651442" y="4825718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다른 차수 비교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8A810D-AFDD-EA89-A46F-81C157F52E3D}"/>
                </a:ext>
              </a:extLst>
            </p:cNvPr>
            <p:cNvSpPr txBox="1"/>
            <p:nvPr/>
          </p:nvSpPr>
          <p:spPr>
            <a:xfrm>
              <a:off x="7689453" y="4815340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유사그룹 비교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2CC6683-81A0-95FF-0E41-4CDF9C2AA0C6}"/>
              </a:ext>
            </a:extLst>
          </p:cNvPr>
          <p:cNvSpPr txBox="1"/>
          <p:nvPr/>
        </p:nvSpPr>
        <p:spPr>
          <a:xfrm>
            <a:off x="1571612" y="5006766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7FE7103-B11E-9FA9-6ABE-F8608BABE696}"/>
              </a:ext>
            </a:extLst>
          </p:cNvPr>
          <p:cNvGrpSpPr/>
          <p:nvPr/>
        </p:nvGrpSpPr>
        <p:grpSpPr>
          <a:xfrm>
            <a:off x="2378444" y="5012311"/>
            <a:ext cx="3060332" cy="235130"/>
            <a:chOff x="2009881" y="2223911"/>
            <a:chExt cx="3060332" cy="235130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52F0E2BA-CACA-7823-2F95-24FBE1703F57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07D9C923-6413-29D1-9DA0-9677514E261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E01FA247-8E2B-CB60-DDC1-9F0DAC16075D}"/>
              </a:ext>
            </a:extLst>
          </p:cNvPr>
          <p:cNvSpPr txBox="1"/>
          <p:nvPr/>
        </p:nvSpPr>
        <p:spPr>
          <a:xfrm>
            <a:off x="5573023" y="5006766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2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B9804D2-9E94-E1F5-46F2-E72D5968C8D7}"/>
              </a:ext>
            </a:extLst>
          </p:cNvPr>
          <p:cNvGrpSpPr/>
          <p:nvPr/>
        </p:nvGrpSpPr>
        <p:grpSpPr>
          <a:xfrm>
            <a:off x="6379855" y="5012311"/>
            <a:ext cx="3060332" cy="235130"/>
            <a:chOff x="2009881" y="2223911"/>
            <a:chExt cx="3060332" cy="235130"/>
          </a:xfrm>
        </p:grpSpPr>
        <p:sp>
          <p:nvSpPr>
            <p:cNvPr id="41" name="Input">
              <a:extLst>
                <a:ext uri="{FF2B5EF4-FFF2-40B4-BE49-F238E27FC236}">
                  <a16:creationId xmlns:a16="http://schemas.microsoft.com/office/drawing/2014/main" id="{12A408D2-C965-9FDC-74ED-EE1651A73744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비교 대상을 선택 하세요</a:t>
              </a:r>
              <a:endParaRPr lang="en-US" altLang="ko-KR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42" name="Chevron Right">
              <a:extLst>
                <a:ext uri="{FF2B5EF4-FFF2-40B4-BE49-F238E27FC236}">
                  <a16:creationId xmlns:a16="http://schemas.microsoft.com/office/drawing/2014/main" id="{6FA4C174-E513-1A67-E2B5-B70E00E90D0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0E11B05F-88F1-50DA-FA56-1E2FD7ED6E5E}"/>
              </a:ext>
            </a:extLst>
          </p:cNvPr>
          <p:cNvSpPr/>
          <p:nvPr/>
        </p:nvSpPr>
        <p:spPr>
          <a:xfrm>
            <a:off x="1508137" y="469415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CD1350B-BEDB-2BFF-20C2-6AF08B840614}"/>
              </a:ext>
            </a:extLst>
          </p:cNvPr>
          <p:cNvSpPr/>
          <p:nvPr/>
        </p:nvSpPr>
        <p:spPr>
          <a:xfrm>
            <a:off x="2302242" y="49549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5B14FA8-8F9A-603B-72D4-DBE6A159C3CF}"/>
              </a:ext>
            </a:extLst>
          </p:cNvPr>
          <p:cNvSpPr/>
          <p:nvPr/>
        </p:nvSpPr>
        <p:spPr>
          <a:xfrm>
            <a:off x="6311153" y="494645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26F0329-960C-A64F-4034-C69D15A7DEC3}"/>
              </a:ext>
            </a:extLst>
          </p:cNvPr>
          <p:cNvSpPr/>
          <p:nvPr/>
        </p:nvSpPr>
        <p:spPr>
          <a:xfrm>
            <a:off x="7318261" y="471219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674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70C197C-A9A7-9BF8-2CA0-7891C118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1F3C0E5-D61E-EB07-C05C-7005238075A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7A70773-E99D-485C-FEF1-7F2DA5215FF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7CC0F7B-44E6-3E70-4DEC-B261F74F608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17657A9-27CC-1712-C97B-E5E585D88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2810986"/>
              </p:ext>
            </p:extLst>
          </p:nvPr>
        </p:nvGraphicFramePr>
        <p:xfrm>
          <a:off x="9655174" y="276226"/>
          <a:ext cx="2532687" cy="154960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역량진단 결과 화면</a:t>
                      </a: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이력 정보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총 진단 횟수 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 이력 목록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행 클릭 시 해당 진단 결과 화면으로 이동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클릭 시 보고서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V-HCD-04-001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64D485-C920-583F-15EF-348B1B096CD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C25B63-AF24-771D-E3ED-7E7BA50B369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B5D3BD-E3B3-AEA9-782E-71551409552E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0B47F5-3631-2123-F6EE-AF8C8051D1DE}"/>
              </a:ext>
            </a:extLst>
          </p:cNvPr>
          <p:cNvSpPr txBox="1"/>
          <p:nvPr/>
        </p:nvSpPr>
        <p:spPr>
          <a:xfrm>
            <a:off x="1487486" y="4185327"/>
            <a:ext cx="1178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이력</a:t>
            </a:r>
            <a:endParaRPr lang="en-US" altLang="ko-KR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TextBox 107">
            <a:extLst>
              <a:ext uri="{FF2B5EF4-FFF2-40B4-BE49-F238E27FC236}">
                <a16:creationId xmlns:a16="http://schemas.microsoft.com/office/drawing/2014/main" id="{5FC92B90-0DAE-63FA-F2FC-8D5A1C00E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7" y="4469957"/>
            <a:ext cx="4503115" cy="5226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b="1" dirty="0" err="1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김코칭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선생님께서는 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총 </a:t>
            </a:r>
            <a:r>
              <a:rPr lang="en-US" altLang="ko-KR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9</a:t>
            </a:r>
            <a:r>
              <a:rPr lang="ko-KR" altLang="en-US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회 진단</a:t>
            </a:r>
            <a:r>
              <a:rPr lang="ko-KR" altLang="en-US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을 하셨습니다</a:t>
            </a:r>
            <a:r>
              <a:rPr lang="en-US" altLang="ko-KR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.</a:t>
            </a:r>
          </a:p>
          <a:p>
            <a:pPr eaLnBrk="1" latinLnBrk="1" hangingPunct="1">
              <a:lnSpc>
                <a:spcPct val="150000"/>
              </a:lnSpc>
              <a:defRPr/>
            </a:pP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진단결과는 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‘</a:t>
            </a:r>
            <a:r>
              <a:rPr lang="ko-KR" altLang="en-US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목록</a:t>
            </a:r>
            <a:r>
              <a:rPr lang="en-US" altLang="ko-KR" sz="900" b="1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’</a:t>
            </a: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을 클릭하시면 진단결과를 확인하실 수 있습니다</a:t>
            </a:r>
            <a:r>
              <a: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.</a:t>
            </a:r>
            <a:r>
              <a:rPr lang="ko-KR" altLang="en-US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  </a:t>
            </a:r>
            <a:endParaRPr lang="en-US" altLang="ko-KR" sz="900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32" name="Pagination">
            <a:extLst>
              <a:ext uri="{FF2B5EF4-FFF2-40B4-BE49-F238E27FC236}">
                <a16:creationId xmlns:a16="http://schemas.microsoft.com/office/drawing/2014/main" id="{1ED98F80-14D7-EF28-EDF1-61218DDE9EC4}"/>
              </a:ext>
            </a:extLst>
          </p:cNvPr>
          <p:cNvGrpSpPr/>
          <p:nvPr/>
        </p:nvGrpSpPr>
        <p:grpSpPr>
          <a:xfrm>
            <a:off x="3700177" y="655451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33" name="Previous">
              <a:extLst>
                <a:ext uri="{FF2B5EF4-FFF2-40B4-BE49-F238E27FC236}">
                  <a16:creationId xmlns:a16="http://schemas.microsoft.com/office/drawing/2014/main" id="{E29EA663-0DE2-11E6-B63A-3B45B44713B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34" name="Page 1">
              <a:extLst>
                <a:ext uri="{FF2B5EF4-FFF2-40B4-BE49-F238E27FC236}">
                  <a16:creationId xmlns:a16="http://schemas.microsoft.com/office/drawing/2014/main" id="{02D1668B-3EE7-6D2C-0CAF-2568F1BE6C5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2764CB1F-8571-FA17-6205-25E63ECF8A97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36" name="Page 3">
              <a:extLst>
                <a:ext uri="{FF2B5EF4-FFF2-40B4-BE49-F238E27FC236}">
                  <a16:creationId xmlns:a16="http://schemas.microsoft.com/office/drawing/2014/main" id="{F97310B1-BC5C-A567-23D8-8C0D508F479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37" name="Page 4">
              <a:extLst>
                <a:ext uri="{FF2B5EF4-FFF2-40B4-BE49-F238E27FC236}">
                  <a16:creationId xmlns:a16="http://schemas.microsoft.com/office/drawing/2014/main" id="{AF5B43DD-CD0F-7B5E-F782-C8CEA2BCA48D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38" name="Page 5">
              <a:extLst>
                <a:ext uri="{FF2B5EF4-FFF2-40B4-BE49-F238E27FC236}">
                  <a16:creationId xmlns:a16="http://schemas.microsoft.com/office/drawing/2014/main" id="{33E5969D-6A9E-F86C-8D0F-09EAB8978E28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40" name="Next">
              <a:extLst>
                <a:ext uri="{FF2B5EF4-FFF2-40B4-BE49-F238E27FC236}">
                  <a16:creationId xmlns:a16="http://schemas.microsoft.com/office/drawing/2014/main" id="{945DF41E-4D13-0589-54ED-7CB2D6A9A7F8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41" name="Page 1">
              <a:extLst>
                <a:ext uri="{FF2B5EF4-FFF2-40B4-BE49-F238E27FC236}">
                  <a16:creationId xmlns:a16="http://schemas.microsoft.com/office/drawing/2014/main" id="{9D74503E-3BA2-10D2-03C4-88E8CB8D2CDA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42" name="Page 2">
              <a:extLst>
                <a:ext uri="{FF2B5EF4-FFF2-40B4-BE49-F238E27FC236}">
                  <a16:creationId xmlns:a16="http://schemas.microsoft.com/office/drawing/2014/main" id="{2572328F-76F3-32D5-90E3-82F7CD08291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43" name="Page 3">
              <a:extLst>
                <a:ext uri="{FF2B5EF4-FFF2-40B4-BE49-F238E27FC236}">
                  <a16:creationId xmlns:a16="http://schemas.microsoft.com/office/drawing/2014/main" id="{F15E0050-8ABF-DACB-3225-9720A80BF26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44" name="Page 4">
              <a:extLst>
                <a:ext uri="{FF2B5EF4-FFF2-40B4-BE49-F238E27FC236}">
                  <a16:creationId xmlns:a16="http://schemas.microsoft.com/office/drawing/2014/main" id="{B5184E81-A2D8-00BA-2F7E-FB42B8EED64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5" name="Page 5">
              <a:extLst>
                <a:ext uri="{FF2B5EF4-FFF2-40B4-BE49-F238E27FC236}">
                  <a16:creationId xmlns:a16="http://schemas.microsoft.com/office/drawing/2014/main" id="{A9B17E9E-88D0-7002-DC0D-E61664EE01C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6" name="Page 5">
              <a:extLst>
                <a:ext uri="{FF2B5EF4-FFF2-40B4-BE49-F238E27FC236}">
                  <a16:creationId xmlns:a16="http://schemas.microsoft.com/office/drawing/2014/main" id="{21A7C947-4172-6D7B-B642-0520FC440956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Page 2">
              <a:extLst>
                <a:ext uri="{FF2B5EF4-FFF2-40B4-BE49-F238E27FC236}">
                  <a16:creationId xmlns:a16="http://schemas.microsoft.com/office/drawing/2014/main" id="{86F526AD-6DB4-F418-5CD9-722D340E863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F43DAA5-8C04-5BFA-864A-EA13A8F4EBC9}"/>
              </a:ext>
            </a:extLst>
          </p:cNvPr>
          <p:cNvGrpSpPr/>
          <p:nvPr/>
        </p:nvGrpSpPr>
        <p:grpSpPr>
          <a:xfrm>
            <a:off x="1555925" y="437339"/>
            <a:ext cx="7958139" cy="3314772"/>
            <a:chOff x="1555925" y="43957"/>
            <a:chExt cx="7958139" cy="331477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52A21DD2-BE2E-AC75-A99E-C3D988EDF12C}"/>
                </a:ext>
              </a:extLst>
            </p:cNvPr>
            <p:cNvSpPr/>
            <p:nvPr/>
          </p:nvSpPr>
          <p:spPr>
            <a:xfrm>
              <a:off x="1555925" y="43957"/>
              <a:ext cx="7958139" cy="33147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A2FA9028-A242-BDCA-3203-11324F3B542F}"/>
                </a:ext>
              </a:extLst>
            </p:cNvPr>
            <p:cNvSpPr/>
            <p:nvPr/>
          </p:nvSpPr>
          <p:spPr>
            <a:xfrm>
              <a:off x="4028457" y="909509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9" name="직사각형 1028">
              <a:extLst>
                <a:ext uri="{FF2B5EF4-FFF2-40B4-BE49-F238E27FC236}">
                  <a16:creationId xmlns:a16="http://schemas.microsoft.com/office/drawing/2014/main" id="{4774973E-75CC-5347-E4F0-D817F6ABC8AC}"/>
                </a:ext>
              </a:extLst>
            </p:cNvPr>
            <p:cNvSpPr/>
            <p:nvPr/>
          </p:nvSpPr>
          <p:spPr>
            <a:xfrm>
              <a:off x="4028457" y="1296456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2" name="직사각형 1031">
              <a:extLst>
                <a:ext uri="{FF2B5EF4-FFF2-40B4-BE49-F238E27FC236}">
                  <a16:creationId xmlns:a16="http://schemas.microsoft.com/office/drawing/2014/main" id="{65C82719-DB26-190D-9077-3848AF8F1F8C}"/>
                </a:ext>
              </a:extLst>
            </p:cNvPr>
            <p:cNvSpPr/>
            <p:nvPr/>
          </p:nvSpPr>
          <p:spPr>
            <a:xfrm>
              <a:off x="4028457" y="1689599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4" name="직사각형 1033">
              <a:extLst>
                <a:ext uri="{FF2B5EF4-FFF2-40B4-BE49-F238E27FC236}">
                  <a16:creationId xmlns:a16="http://schemas.microsoft.com/office/drawing/2014/main" id="{C75F2C5E-FB6E-BF23-7D9B-04678D8776F2}"/>
                </a:ext>
              </a:extLst>
            </p:cNvPr>
            <p:cNvSpPr/>
            <p:nvPr/>
          </p:nvSpPr>
          <p:spPr>
            <a:xfrm>
              <a:off x="4028457" y="2084784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17DA84-DAED-9441-8A6B-50598FB14399}"/>
                </a:ext>
              </a:extLst>
            </p:cNvPr>
            <p:cNvSpPr/>
            <p:nvPr/>
          </p:nvSpPr>
          <p:spPr>
            <a:xfrm>
              <a:off x="4028457" y="2479035"/>
              <a:ext cx="541558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616A4BB-43D4-2F62-36FD-5A0D9AEE8443}"/>
                </a:ext>
              </a:extLst>
            </p:cNvPr>
            <p:cNvSpPr/>
            <p:nvPr/>
          </p:nvSpPr>
          <p:spPr>
            <a:xfrm>
              <a:off x="4024318" y="2869841"/>
              <a:ext cx="5415621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6EB6E26-F31D-2692-C5C5-2665B5C30DDC}"/>
                </a:ext>
              </a:extLst>
            </p:cNvPr>
            <p:cNvSpPr/>
            <p:nvPr/>
          </p:nvSpPr>
          <p:spPr>
            <a:xfrm>
              <a:off x="3957802" y="1027010"/>
              <a:ext cx="3424820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74</a:t>
              </a:r>
              <a:endParaRPr lang="ko-KR" altLang="en-US" sz="9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07FD820-00BC-711C-6A8E-0B223E17EDED}"/>
                </a:ext>
              </a:extLst>
            </p:cNvPr>
            <p:cNvSpPr/>
            <p:nvPr/>
          </p:nvSpPr>
          <p:spPr>
            <a:xfrm>
              <a:off x="3965174" y="1413957"/>
              <a:ext cx="304522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66</a:t>
              </a:r>
              <a:endParaRPr lang="ko-KR" altLang="en-US" sz="9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BF70137-E160-B9FD-91DC-93E6D745AB1B}"/>
                </a:ext>
              </a:extLst>
            </p:cNvPr>
            <p:cNvSpPr/>
            <p:nvPr/>
          </p:nvSpPr>
          <p:spPr>
            <a:xfrm>
              <a:off x="3961249" y="1814108"/>
              <a:ext cx="3247271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70</a:t>
              </a:r>
              <a:endParaRPr lang="ko-KR" altLang="en-US" sz="9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CF9E6E2E-43C5-3821-AC01-D530E071A2B1}"/>
                </a:ext>
              </a:extLst>
            </p:cNvPr>
            <p:cNvSpPr/>
            <p:nvPr/>
          </p:nvSpPr>
          <p:spPr>
            <a:xfrm>
              <a:off x="3953580" y="2208117"/>
              <a:ext cx="364213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77</a:t>
              </a:r>
              <a:endParaRPr lang="ko-KR" altLang="en-US" sz="9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6158DB0-F028-F7C4-99CA-2AC40C3795B4}"/>
                </a:ext>
              </a:extLst>
            </p:cNvPr>
            <p:cNvSpPr/>
            <p:nvPr/>
          </p:nvSpPr>
          <p:spPr>
            <a:xfrm>
              <a:off x="3959609" y="2587954"/>
              <a:ext cx="3542763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75</a:t>
              </a:r>
              <a:endParaRPr lang="ko-KR" altLang="en-US" sz="9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0CB43A66-58DD-75DB-8C81-E08356DDA3A7}"/>
                </a:ext>
              </a:extLst>
            </p:cNvPr>
            <p:cNvSpPr/>
            <p:nvPr/>
          </p:nvSpPr>
          <p:spPr>
            <a:xfrm>
              <a:off x="3951243" y="2981963"/>
              <a:ext cx="397355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82</a:t>
              </a:r>
              <a:endParaRPr lang="ko-KR" altLang="en-US" sz="900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3FFF710-9B14-D799-8186-CCF9645A72B7}"/>
                </a:ext>
              </a:extLst>
            </p:cNvPr>
            <p:cNvSpPr/>
            <p:nvPr/>
          </p:nvSpPr>
          <p:spPr>
            <a:xfrm>
              <a:off x="4036540" y="519167"/>
              <a:ext cx="5407498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0157BE6-7BC7-D47C-164D-3CC39231153A}"/>
                </a:ext>
              </a:extLst>
            </p:cNvPr>
            <p:cNvSpPr/>
            <p:nvPr/>
          </p:nvSpPr>
          <p:spPr>
            <a:xfrm>
              <a:off x="3966514" y="636485"/>
              <a:ext cx="3771229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71</a:t>
              </a:r>
              <a:endParaRPr lang="ko-KR" altLang="en-US" sz="900" dirty="0"/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0D7DC189-2868-8057-3132-91A5CA15D693}"/>
                </a:ext>
              </a:extLst>
            </p:cNvPr>
            <p:cNvSpPr/>
            <p:nvPr/>
          </p:nvSpPr>
          <p:spPr>
            <a:xfrm>
              <a:off x="1631950" y="909508"/>
              <a:ext cx="1037748" cy="7821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공동체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4" name="직사각형 1023">
              <a:extLst>
                <a:ext uri="{FF2B5EF4-FFF2-40B4-BE49-F238E27FC236}">
                  <a16:creationId xmlns:a16="http://schemas.microsoft.com/office/drawing/2014/main" id="{D9F366F6-3BF6-4949-5437-D14581B27458}"/>
                </a:ext>
              </a:extLst>
            </p:cNvPr>
            <p:cNvSpPr/>
            <p:nvPr/>
          </p:nvSpPr>
          <p:spPr>
            <a:xfrm>
              <a:off x="2669697" y="909509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5.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학급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경영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A9B929E6-884C-6D4D-5E5F-814201942532}"/>
                </a:ext>
              </a:extLst>
            </p:cNvPr>
            <p:cNvSpPr/>
            <p:nvPr/>
          </p:nvSpPr>
          <p:spPr>
            <a:xfrm>
              <a:off x="2669697" y="1296456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6.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소통 및 협력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1" name="직사각형 1030">
              <a:extLst>
                <a:ext uri="{FF2B5EF4-FFF2-40B4-BE49-F238E27FC236}">
                  <a16:creationId xmlns:a16="http://schemas.microsoft.com/office/drawing/2014/main" id="{674829F0-B676-8E03-54C5-AD56B538BF1E}"/>
                </a:ext>
              </a:extLst>
            </p:cNvPr>
            <p:cNvSpPr/>
            <p:nvPr/>
          </p:nvSpPr>
          <p:spPr>
            <a:xfrm>
              <a:off x="2669697" y="1689599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7.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교육생태계 활용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33" name="직사각형 1032">
              <a:extLst>
                <a:ext uri="{FF2B5EF4-FFF2-40B4-BE49-F238E27FC236}">
                  <a16:creationId xmlns:a16="http://schemas.microsoft.com/office/drawing/2014/main" id="{4D382314-B1FA-030E-D7F2-C4165C1B2D24}"/>
                </a:ext>
              </a:extLst>
            </p:cNvPr>
            <p:cNvSpPr/>
            <p:nvPr/>
          </p:nvSpPr>
          <p:spPr>
            <a:xfrm>
              <a:off x="2669697" y="2084784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8.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변화대응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디지털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5480B94-E564-5D52-E6FB-CC10AD95FDAC}"/>
                </a:ext>
              </a:extLst>
            </p:cNvPr>
            <p:cNvSpPr/>
            <p:nvPr/>
          </p:nvSpPr>
          <p:spPr>
            <a:xfrm>
              <a:off x="2669697" y="2479035"/>
              <a:ext cx="136684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9.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전문성개발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A88718A-4C7E-5E4F-96C1-847E4D9673DE}"/>
                </a:ext>
              </a:extLst>
            </p:cNvPr>
            <p:cNvSpPr/>
            <p:nvPr/>
          </p:nvSpPr>
          <p:spPr>
            <a:xfrm>
              <a:off x="2665598" y="2869841"/>
              <a:ext cx="1375595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10.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자기관리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3A6CFCA-1127-9142-8F8A-74686131F256}"/>
                </a:ext>
              </a:extLst>
            </p:cNvPr>
            <p:cNvSpPr/>
            <p:nvPr/>
          </p:nvSpPr>
          <p:spPr>
            <a:xfrm>
              <a:off x="1631950" y="1688534"/>
              <a:ext cx="1037748" cy="7905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문제 해결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7955A5E-4C47-158A-E7D4-3D702808E2D6}"/>
                </a:ext>
              </a:extLst>
            </p:cNvPr>
            <p:cNvSpPr/>
            <p:nvPr/>
          </p:nvSpPr>
          <p:spPr>
            <a:xfrm>
              <a:off x="2669697" y="519167"/>
              <a:ext cx="1366844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진로교육</a:t>
              </a: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019B8287-AC7E-325C-5190-A0ED313FEACC}"/>
                </a:ext>
              </a:extLst>
            </p:cNvPr>
            <p:cNvSpPr/>
            <p:nvPr/>
          </p:nvSpPr>
          <p:spPr>
            <a:xfrm>
              <a:off x="1631950" y="2474655"/>
              <a:ext cx="1037748" cy="7859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자기개발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</p:grpSp>
      <p:sp>
        <p:nvSpPr>
          <p:cNvPr id="61" name="타원 60">
            <a:extLst>
              <a:ext uri="{FF2B5EF4-FFF2-40B4-BE49-F238E27FC236}">
                <a16:creationId xmlns:a16="http://schemas.microsoft.com/office/drawing/2014/main" id="{E1BCE93E-7536-FCE8-BAA2-A1E4E0B04AD8}"/>
              </a:ext>
            </a:extLst>
          </p:cNvPr>
          <p:cNvSpPr/>
          <p:nvPr/>
        </p:nvSpPr>
        <p:spPr>
          <a:xfrm>
            <a:off x="1426639" y="44758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FDF9480-BBF9-CE13-4DDD-46E2B8E5CCD9}"/>
              </a:ext>
            </a:extLst>
          </p:cNvPr>
          <p:cNvSpPr/>
          <p:nvPr/>
        </p:nvSpPr>
        <p:spPr>
          <a:xfrm>
            <a:off x="3012988" y="445869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" name="Input">
            <a:extLst>
              <a:ext uri="{FF2B5EF4-FFF2-40B4-BE49-F238E27FC236}">
                <a16:creationId xmlns:a16="http://schemas.microsoft.com/office/drawing/2014/main" id="{6517F3CE-D312-4524-4496-56096FCA0536}"/>
              </a:ext>
            </a:extLst>
          </p:cNvPr>
          <p:cNvSpPr/>
          <p:nvPr/>
        </p:nvSpPr>
        <p:spPr>
          <a:xfrm>
            <a:off x="5055379" y="3868627"/>
            <a:ext cx="958668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보고서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F5524E2-AD86-7FA4-C67B-B49213304923}"/>
              </a:ext>
            </a:extLst>
          </p:cNvPr>
          <p:cNvSpPr/>
          <p:nvPr/>
        </p:nvSpPr>
        <p:spPr>
          <a:xfrm>
            <a:off x="4902978" y="38303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F66A1D69-B569-E4E1-244D-4F5CBBFF4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509762"/>
              </p:ext>
            </p:extLst>
          </p:nvPr>
        </p:nvGraphicFramePr>
        <p:xfrm>
          <a:off x="1558925" y="5026152"/>
          <a:ext cx="8028902" cy="133696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60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5705">
                  <a:extLst>
                    <a:ext uri="{9D8B030D-6E8A-4147-A177-3AD203B41FA5}">
                      <a16:colId xmlns:a16="http://schemas.microsoft.com/office/drawing/2014/main" val="3133292324"/>
                    </a:ext>
                  </a:extLst>
                </a:gridCol>
                <a:gridCol w="86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0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진단상태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진단일</a:t>
                      </a:r>
                    </a:p>
                  </a:txBody>
                  <a:tcPr marT="72000" marB="72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9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(20260410)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8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(20260310)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399"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--------------------------------------</a:t>
                      </a:r>
                      <a:r>
                        <a:rPr lang="ko-KR" altLang="en-US" sz="800" dirty="0">
                          <a:latin typeface="나눔고딕" pitchFamily="2" charset="-127"/>
                          <a:ea typeface="나눔고딕" pitchFamily="2" charset="-127"/>
                        </a:rPr>
                        <a:t>중략</a:t>
                      </a: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--------------------------------------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399">
                <a:tc>
                  <a:txBody>
                    <a:bodyPr/>
                    <a:lstStyle/>
                    <a:p>
                      <a:pPr algn="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차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(20260220)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완료</a:t>
                      </a:r>
                      <a:endParaRPr lang="ko-KR" altLang="en-US" sz="800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YYYY-MM-DD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2" name="타원 101">
            <a:extLst>
              <a:ext uri="{FF2B5EF4-FFF2-40B4-BE49-F238E27FC236}">
                <a16:creationId xmlns:a16="http://schemas.microsoft.com/office/drawing/2014/main" id="{D0E708BD-D40C-E7E6-B06A-2B09DD910677}"/>
              </a:ext>
            </a:extLst>
          </p:cNvPr>
          <p:cNvSpPr/>
          <p:nvPr/>
        </p:nvSpPr>
        <p:spPr>
          <a:xfrm>
            <a:off x="1441586" y="496607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22CA0555-4AE7-8176-8950-798B7022E9B9}"/>
              </a:ext>
            </a:extLst>
          </p:cNvPr>
          <p:cNvSpPr/>
          <p:nvPr/>
        </p:nvSpPr>
        <p:spPr>
          <a:xfrm>
            <a:off x="1499670" y="41545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4B4888-3884-6FCF-CF82-93478F653BA4}"/>
              </a:ext>
            </a:extLst>
          </p:cNvPr>
          <p:cNvSpPr/>
          <p:nvPr/>
        </p:nvSpPr>
        <p:spPr>
          <a:xfrm>
            <a:off x="4036540" y="526894"/>
            <a:ext cx="5407498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72863701-3293-DCA8-D30A-55031A720B17}"/>
              </a:ext>
            </a:extLst>
          </p:cNvPr>
          <p:cNvSpPr/>
          <p:nvPr/>
        </p:nvSpPr>
        <p:spPr>
          <a:xfrm>
            <a:off x="3999052" y="644212"/>
            <a:ext cx="4199652" cy="162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79</a:t>
            </a:r>
            <a:endParaRPr lang="ko-KR" altLang="en-US" sz="9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7C6702-220B-59D7-F611-08A5C29F32E3}"/>
              </a:ext>
            </a:extLst>
          </p:cNvPr>
          <p:cNvSpPr/>
          <p:nvPr/>
        </p:nvSpPr>
        <p:spPr>
          <a:xfrm>
            <a:off x="1631950" y="526894"/>
            <a:ext cx="1037748" cy="7877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D24566-C8AC-B7FB-36CD-5E76E75E0F76}"/>
              </a:ext>
            </a:extLst>
          </p:cNvPr>
          <p:cNvSpPr/>
          <p:nvPr/>
        </p:nvSpPr>
        <p:spPr>
          <a:xfrm>
            <a:off x="2669697" y="526894"/>
            <a:ext cx="1366844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80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E04188-F321-8AB6-1B39-B2DD00EE8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사각형: 둥근 모서리 1042">
            <a:extLst>
              <a:ext uri="{FF2B5EF4-FFF2-40B4-BE49-F238E27FC236}">
                <a16:creationId xmlns:a16="http://schemas.microsoft.com/office/drawing/2014/main" id="{F97654D5-521C-0986-764C-EA28007692A8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A270830-1818-11E0-BE67-778C2AC0A554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0E6BD5B-8C86-D15C-D969-7A95095A9FC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C87F0DE-5984-3BB5-9DB8-DBCDA2F4325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327E694B-CB29-1C19-B1C5-1E7A7C6ADE05}"/>
              </a:ext>
            </a:extLst>
          </p:cNvPr>
          <p:cNvGraphicFramePr/>
          <p:nvPr/>
        </p:nvGraphicFramePr>
        <p:xfrm>
          <a:off x="9655174" y="276226"/>
          <a:ext cx="2532687" cy="51326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비교대상 </a:t>
                      </a:r>
                      <a:r>
                        <a:rPr lang="en-US" altLang="ko-KR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1, 2 </a:t>
                      </a:r>
                      <a:r>
                        <a:rPr lang="ko-KR" altLang="en-US" sz="800" b="1" u="none" strike="noStrike" cap="none" dirty="0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 비교 시 차트 영역</a:t>
                      </a: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F793599-E687-DD5B-4E20-F641791E954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C69B2-A7D3-CF03-218F-74AD76E9372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636CD-D64F-5438-EF39-18FE237D7CBE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상세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6BDB2BAB-C4CD-F6BD-CC4E-6DD35FE838D6}"/>
              </a:ext>
            </a:extLst>
          </p:cNvPr>
          <p:cNvGrpSpPr/>
          <p:nvPr/>
        </p:nvGrpSpPr>
        <p:grpSpPr>
          <a:xfrm>
            <a:off x="1551786" y="811363"/>
            <a:ext cx="7962278" cy="5174570"/>
            <a:chOff x="1554785" y="4047794"/>
            <a:chExt cx="7962278" cy="5174570"/>
          </a:xfrm>
        </p:grpSpPr>
        <p:sp>
          <p:nvSpPr>
            <p:cNvPr id="106" name="사각형: 둥근 위쪽 모서리 105">
              <a:extLst>
                <a:ext uri="{FF2B5EF4-FFF2-40B4-BE49-F238E27FC236}">
                  <a16:creationId xmlns:a16="http://schemas.microsoft.com/office/drawing/2014/main" id="{43DA6669-32E4-7F6B-7C67-04A4B0971124}"/>
                </a:ext>
              </a:extLst>
            </p:cNvPr>
            <p:cNvSpPr/>
            <p:nvPr/>
          </p:nvSpPr>
          <p:spPr>
            <a:xfrm>
              <a:off x="1554785" y="4047794"/>
              <a:ext cx="7962276" cy="275459"/>
            </a:xfrm>
            <a:prstGeom prst="round2Same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나의 핵심역량 추이 비교</a:t>
              </a: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27CA5299-B85E-2B05-86FD-5153B2180943}"/>
                </a:ext>
              </a:extLst>
            </p:cNvPr>
            <p:cNvSpPr/>
            <p:nvPr/>
          </p:nvSpPr>
          <p:spPr>
            <a:xfrm>
              <a:off x="1558924" y="4323253"/>
              <a:ext cx="7958139" cy="48991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6A025B6D-CB41-2AE3-7254-AF37B8A61627}"/>
              </a:ext>
            </a:extLst>
          </p:cNvPr>
          <p:cNvSpPr txBox="1"/>
          <p:nvPr/>
        </p:nvSpPr>
        <p:spPr>
          <a:xfrm>
            <a:off x="1563145" y="1366809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2B25695-08DE-CC8D-DFA1-2EB6C9B37447}"/>
              </a:ext>
            </a:extLst>
          </p:cNvPr>
          <p:cNvGrpSpPr/>
          <p:nvPr/>
        </p:nvGrpSpPr>
        <p:grpSpPr>
          <a:xfrm>
            <a:off x="2369977" y="1372354"/>
            <a:ext cx="3060332" cy="235130"/>
            <a:chOff x="2009881" y="2223911"/>
            <a:chExt cx="3060332" cy="235130"/>
          </a:xfrm>
        </p:grpSpPr>
        <p:sp>
          <p:nvSpPr>
            <p:cNvPr id="113" name="Input">
              <a:extLst>
                <a:ext uri="{FF2B5EF4-FFF2-40B4-BE49-F238E27FC236}">
                  <a16:creationId xmlns:a16="http://schemas.microsoft.com/office/drawing/2014/main" id="{0AA563A3-6F6C-F077-1B27-A0C09123A309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114" name="Chevron Right">
              <a:extLst>
                <a:ext uri="{FF2B5EF4-FFF2-40B4-BE49-F238E27FC236}">
                  <a16:creationId xmlns:a16="http://schemas.microsoft.com/office/drawing/2014/main" id="{4014D289-AF58-2D9C-3578-6C4BEA19CA1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DDAA7282-8C0E-751F-20A8-CF297C5E3FAF}"/>
              </a:ext>
            </a:extLst>
          </p:cNvPr>
          <p:cNvSpPr txBox="1"/>
          <p:nvPr/>
        </p:nvSpPr>
        <p:spPr>
          <a:xfrm>
            <a:off x="5564556" y="1366809"/>
            <a:ext cx="806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대상 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2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선택</a:t>
            </a: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10E286CC-6D0A-6874-B01F-694A66BBCE8E}"/>
              </a:ext>
            </a:extLst>
          </p:cNvPr>
          <p:cNvGrpSpPr/>
          <p:nvPr/>
        </p:nvGrpSpPr>
        <p:grpSpPr>
          <a:xfrm>
            <a:off x="6371388" y="1372354"/>
            <a:ext cx="3060332" cy="235130"/>
            <a:chOff x="2009881" y="2223911"/>
            <a:chExt cx="3060332" cy="235130"/>
          </a:xfrm>
        </p:grpSpPr>
        <p:sp>
          <p:nvSpPr>
            <p:cNvPr id="117" name="Input">
              <a:extLst>
                <a:ext uri="{FF2B5EF4-FFF2-40B4-BE49-F238E27FC236}">
                  <a16:creationId xmlns:a16="http://schemas.microsoft.com/office/drawing/2014/main" id="{042DB1EB-DEB5-6281-107D-0DE4C6E9C413}"/>
                </a:ext>
              </a:extLst>
            </p:cNvPr>
            <p:cNvSpPr/>
            <p:nvPr/>
          </p:nvSpPr>
          <p:spPr>
            <a:xfrm>
              <a:off x="2009881" y="2223911"/>
              <a:ext cx="3060332" cy="23513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1">
                <a:lnSpc>
                  <a:spcPct val="120000"/>
                </a:lnSpc>
                <a:defRPr/>
              </a:pP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년도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경기교원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교사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) 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핵심역량 진단 설문 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1</a:t>
              </a:r>
              <a:r>
                <a:rPr lang="ko-KR" altLang="en-US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분기</a:t>
              </a:r>
              <a:r>
                <a:rPr lang="en-US" altLang="ko-KR" sz="900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(20..</a:t>
              </a:r>
            </a:p>
          </p:txBody>
        </p:sp>
        <p:sp>
          <p:nvSpPr>
            <p:cNvPr id="118" name="Chevron Right">
              <a:extLst>
                <a:ext uri="{FF2B5EF4-FFF2-40B4-BE49-F238E27FC236}">
                  <a16:creationId xmlns:a16="http://schemas.microsoft.com/office/drawing/2014/main" id="{B652A43C-5D00-202F-D811-F8C5BECFDE2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4931341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0C003300-8A00-E4E5-804F-AFEDCDBC2302}"/>
              </a:ext>
            </a:extLst>
          </p:cNvPr>
          <p:cNvGrpSpPr/>
          <p:nvPr/>
        </p:nvGrpSpPr>
        <p:grpSpPr>
          <a:xfrm>
            <a:off x="7837755" y="1710106"/>
            <a:ext cx="1710264" cy="230832"/>
            <a:chOff x="7837755" y="4644049"/>
            <a:chExt cx="1710264" cy="230832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5FB33D6-162D-D806-4A69-14D3B05A5095}"/>
                </a:ext>
              </a:extLst>
            </p:cNvPr>
            <p:cNvSpPr txBox="1"/>
            <p:nvPr/>
          </p:nvSpPr>
          <p:spPr>
            <a:xfrm>
              <a:off x="7837755" y="4644049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1 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E1C51EB-86E3-1CD2-601E-727B9E4BB0B6}"/>
                </a:ext>
              </a:extLst>
            </p:cNvPr>
            <p:cNvSpPr txBox="1"/>
            <p:nvPr/>
          </p:nvSpPr>
          <p:spPr>
            <a:xfrm>
              <a:off x="8741188" y="4644049"/>
              <a:ext cx="8068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비교 대상 </a:t>
              </a:r>
              <a:r>
                <a:rPr lang="en-US" altLang="ko-KR" sz="900" b="1" dirty="0">
                  <a:latin typeface="나눔고딕" pitchFamily="2" charset="-127"/>
                  <a:ea typeface="나눔고딕" pitchFamily="2" charset="-127"/>
                </a:rPr>
                <a:t>2 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</p:grp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AA3649A-052A-2D0F-E36C-FC737DA81043}"/>
              </a:ext>
            </a:extLst>
          </p:cNvPr>
          <p:cNvSpPr/>
          <p:nvPr/>
        </p:nvSpPr>
        <p:spPr>
          <a:xfrm>
            <a:off x="4020178" y="1980844"/>
            <a:ext cx="5423860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7" name="직사각형 1026">
            <a:extLst>
              <a:ext uri="{FF2B5EF4-FFF2-40B4-BE49-F238E27FC236}">
                <a16:creationId xmlns:a16="http://schemas.microsoft.com/office/drawing/2014/main" id="{B05E0D63-DA65-4D3F-FAD1-A1882137896B}"/>
              </a:ext>
            </a:extLst>
          </p:cNvPr>
          <p:cNvSpPr/>
          <p:nvPr/>
        </p:nvSpPr>
        <p:spPr>
          <a:xfrm>
            <a:off x="4020178" y="2367791"/>
            <a:ext cx="5423860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EDA1D7FE-8160-8E78-FC9C-C51F511470CB}"/>
              </a:ext>
            </a:extLst>
          </p:cNvPr>
          <p:cNvSpPr/>
          <p:nvPr/>
        </p:nvSpPr>
        <p:spPr>
          <a:xfrm>
            <a:off x="4024317" y="2762822"/>
            <a:ext cx="541972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C41DA7A2-CCAD-7D30-EB9F-DD0D55F25E40}"/>
              </a:ext>
            </a:extLst>
          </p:cNvPr>
          <p:cNvSpPr txBox="1"/>
          <p:nvPr/>
        </p:nvSpPr>
        <p:spPr>
          <a:xfrm>
            <a:off x="1558926" y="1719394"/>
            <a:ext cx="673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단위</a:t>
            </a:r>
            <a:r>
              <a:rPr lang="en-US" altLang="ko-KR" sz="900" dirty="0">
                <a:latin typeface="나눔고딕" pitchFamily="2" charset="-127"/>
                <a:ea typeface="나눔고딕" pitchFamily="2" charset="-127"/>
              </a:rPr>
              <a:t>: %)</a:t>
            </a:r>
            <a:endParaRPr lang="ko-KR" altLang="en-US" sz="9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039" name="사각형: 둥근 모서리 1038">
            <a:extLst>
              <a:ext uri="{FF2B5EF4-FFF2-40B4-BE49-F238E27FC236}">
                <a16:creationId xmlns:a16="http://schemas.microsoft.com/office/drawing/2014/main" id="{42F90480-E86F-1D4A-E2D0-9CC2F61F5093}"/>
              </a:ext>
            </a:extLst>
          </p:cNvPr>
          <p:cNvSpPr/>
          <p:nvPr/>
        </p:nvSpPr>
        <p:spPr>
          <a:xfrm>
            <a:off x="3982766" y="2028570"/>
            <a:ext cx="384736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76</a:t>
            </a:r>
            <a:endParaRPr lang="ko-KR" altLang="en-US" sz="900" dirty="0"/>
          </a:p>
        </p:txBody>
      </p:sp>
      <p:sp>
        <p:nvSpPr>
          <p:cNvPr id="1040" name="사각형: 둥근 모서리 1039">
            <a:extLst>
              <a:ext uri="{FF2B5EF4-FFF2-40B4-BE49-F238E27FC236}">
                <a16:creationId xmlns:a16="http://schemas.microsoft.com/office/drawing/2014/main" id="{4FF4746D-09CE-7786-9950-6944885F93EA}"/>
              </a:ext>
            </a:extLst>
          </p:cNvPr>
          <p:cNvSpPr/>
          <p:nvPr/>
        </p:nvSpPr>
        <p:spPr>
          <a:xfrm>
            <a:off x="3988240" y="2415517"/>
            <a:ext cx="342094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1" name="사각형: 둥근 모서리 1040">
            <a:extLst>
              <a:ext uri="{FF2B5EF4-FFF2-40B4-BE49-F238E27FC236}">
                <a16:creationId xmlns:a16="http://schemas.microsoft.com/office/drawing/2014/main" id="{EB53C159-C6DF-8F82-6E24-5E07DAA43FEE}"/>
              </a:ext>
            </a:extLst>
          </p:cNvPr>
          <p:cNvSpPr/>
          <p:nvPr/>
        </p:nvSpPr>
        <p:spPr>
          <a:xfrm>
            <a:off x="3985832" y="2813463"/>
            <a:ext cx="420525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79</a:t>
            </a:r>
            <a:endParaRPr lang="ko-KR" altLang="en-US" sz="900" dirty="0"/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8B2CE6A2-3FE5-83E3-CB6E-06DEADE66786}"/>
              </a:ext>
            </a:extLst>
          </p:cNvPr>
          <p:cNvSpPr/>
          <p:nvPr/>
        </p:nvSpPr>
        <p:spPr>
          <a:xfrm>
            <a:off x="4028457" y="3546609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7B61E2EB-5A96-A165-AE17-761E10E3EEB7}"/>
              </a:ext>
            </a:extLst>
          </p:cNvPr>
          <p:cNvSpPr/>
          <p:nvPr/>
        </p:nvSpPr>
        <p:spPr>
          <a:xfrm>
            <a:off x="4028457" y="3933556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2" name="직사각형 1031">
            <a:extLst>
              <a:ext uri="{FF2B5EF4-FFF2-40B4-BE49-F238E27FC236}">
                <a16:creationId xmlns:a16="http://schemas.microsoft.com/office/drawing/2014/main" id="{4DFA622E-9279-B19C-B3F4-80FB94098209}"/>
              </a:ext>
            </a:extLst>
          </p:cNvPr>
          <p:cNvSpPr/>
          <p:nvPr/>
        </p:nvSpPr>
        <p:spPr>
          <a:xfrm>
            <a:off x="4028457" y="4326699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4" name="직사각형 1033">
            <a:extLst>
              <a:ext uri="{FF2B5EF4-FFF2-40B4-BE49-F238E27FC236}">
                <a16:creationId xmlns:a16="http://schemas.microsoft.com/office/drawing/2014/main" id="{A757AF3D-6068-559C-0113-35CA3A4159F7}"/>
              </a:ext>
            </a:extLst>
          </p:cNvPr>
          <p:cNvSpPr/>
          <p:nvPr/>
        </p:nvSpPr>
        <p:spPr>
          <a:xfrm>
            <a:off x="4028457" y="4721884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A7EB85-06BF-ED40-1E1C-5BC418CC6BA3}"/>
              </a:ext>
            </a:extLst>
          </p:cNvPr>
          <p:cNvSpPr/>
          <p:nvPr/>
        </p:nvSpPr>
        <p:spPr>
          <a:xfrm>
            <a:off x="4028457" y="5116135"/>
            <a:ext cx="541558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27094B-D69A-0C50-B3DC-61E07B2061CD}"/>
              </a:ext>
            </a:extLst>
          </p:cNvPr>
          <p:cNvSpPr/>
          <p:nvPr/>
        </p:nvSpPr>
        <p:spPr>
          <a:xfrm>
            <a:off x="4020178" y="5506941"/>
            <a:ext cx="541976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31C784-37DF-A854-09A1-1CB574440886}"/>
              </a:ext>
            </a:extLst>
          </p:cNvPr>
          <p:cNvSpPr/>
          <p:nvPr/>
        </p:nvSpPr>
        <p:spPr>
          <a:xfrm>
            <a:off x="3994392" y="3597433"/>
            <a:ext cx="338822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64</a:t>
            </a:r>
            <a:endParaRPr lang="ko-KR" altLang="en-US" sz="9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9EE821-D714-6C93-7E6D-99ED97087A55}"/>
              </a:ext>
            </a:extLst>
          </p:cNvPr>
          <p:cNvSpPr/>
          <p:nvPr/>
        </p:nvSpPr>
        <p:spPr>
          <a:xfrm>
            <a:off x="3997710" y="3984380"/>
            <a:ext cx="3012691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66</a:t>
            </a:r>
            <a:endParaRPr lang="ko-KR" altLang="en-US" sz="9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552518D-A0C9-B488-F0CD-CD676AF2445C}"/>
              </a:ext>
            </a:extLst>
          </p:cNvPr>
          <p:cNvSpPr/>
          <p:nvPr/>
        </p:nvSpPr>
        <p:spPr>
          <a:xfrm>
            <a:off x="3992174" y="4384531"/>
            <a:ext cx="3216346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70</a:t>
            </a:r>
            <a:endParaRPr lang="ko-KR" altLang="en-US" sz="9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A13B5E8-91C8-D8E9-3798-7DE913D71BC6}"/>
              </a:ext>
            </a:extLst>
          </p:cNvPr>
          <p:cNvSpPr/>
          <p:nvPr/>
        </p:nvSpPr>
        <p:spPr>
          <a:xfrm>
            <a:off x="3988265" y="4778540"/>
            <a:ext cx="3607449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77</a:t>
            </a:r>
            <a:endParaRPr lang="ko-KR" altLang="en-US" sz="9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3DDD5FC-A22B-070E-1188-10D881D970B7}"/>
              </a:ext>
            </a:extLst>
          </p:cNvPr>
          <p:cNvSpPr/>
          <p:nvPr/>
        </p:nvSpPr>
        <p:spPr>
          <a:xfrm>
            <a:off x="3993349" y="5158377"/>
            <a:ext cx="3509024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75</a:t>
            </a:r>
            <a:endParaRPr lang="ko-KR" altLang="en-US" sz="9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ED17379-FB48-546C-0C6E-7EA8B54FF570}"/>
              </a:ext>
            </a:extLst>
          </p:cNvPr>
          <p:cNvSpPr/>
          <p:nvPr/>
        </p:nvSpPr>
        <p:spPr>
          <a:xfrm>
            <a:off x="3989084" y="5552386"/>
            <a:ext cx="3935716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82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32C0A77-4E43-35CE-7D48-53C1EA1BDF91}"/>
              </a:ext>
            </a:extLst>
          </p:cNvPr>
          <p:cNvSpPr/>
          <p:nvPr/>
        </p:nvSpPr>
        <p:spPr>
          <a:xfrm>
            <a:off x="4024317" y="3156267"/>
            <a:ext cx="5419721" cy="39080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9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57F42C5-AD50-A6BB-F0D6-B725F1607174}"/>
              </a:ext>
            </a:extLst>
          </p:cNvPr>
          <p:cNvSpPr/>
          <p:nvPr/>
        </p:nvSpPr>
        <p:spPr>
          <a:xfrm>
            <a:off x="3990404" y="3206908"/>
            <a:ext cx="3739720" cy="112292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71</a:t>
            </a:r>
            <a:endParaRPr lang="ko-KR" altLang="en-US" sz="900" dirty="0"/>
          </a:p>
        </p:txBody>
      </p:sp>
      <p:sp>
        <p:nvSpPr>
          <p:cNvPr id="1045" name="사각형: 둥근 모서리 1044">
            <a:extLst>
              <a:ext uri="{FF2B5EF4-FFF2-40B4-BE49-F238E27FC236}">
                <a16:creationId xmlns:a16="http://schemas.microsoft.com/office/drawing/2014/main" id="{84DC166C-4981-6DC8-FEB8-83785701AEA1}"/>
              </a:ext>
            </a:extLst>
          </p:cNvPr>
          <p:cNvSpPr/>
          <p:nvPr/>
        </p:nvSpPr>
        <p:spPr>
          <a:xfrm>
            <a:off x="3982725" y="2206407"/>
            <a:ext cx="315436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62</a:t>
            </a:r>
            <a:endParaRPr lang="ko-KR" altLang="en-US" sz="900" dirty="0"/>
          </a:p>
        </p:txBody>
      </p:sp>
      <p:sp>
        <p:nvSpPr>
          <p:cNvPr id="1046" name="사각형: 둥근 모서리 1045">
            <a:extLst>
              <a:ext uri="{FF2B5EF4-FFF2-40B4-BE49-F238E27FC236}">
                <a16:creationId xmlns:a16="http://schemas.microsoft.com/office/drawing/2014/main" id="{0EC49F7B-FDD1-F97D-67D4-307F78EF82D3}"/>
              </a:ext>
            </a:extLst>
          </p:cNvPr>
          <p:cNvSpPr/>
          <p:nvPr/>
        </p:nvSpPr>
        <p:spPr>
          <a:xfrm>
            <a:off x="3988200" y="2593354"/>
            <a:ext cx="2804744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47" name="사각형: 둥근 모서리 1046">
            <a:extLst>
              <a:ext uri="{FF2B5EF4-FFF2-40B4-BE49-F238E27FC236}">
                <a16:creationId xmlns:a16="http://schemas.microsoft.com/office/drawing/2014/main" id="{C45EA626-56CF-ADBD-991A-3D2A7112BD3E}"/>
              </a:ext>
            </a:extLst>
          </p:cNvPr>
          <p:cNvSpPr/>
          <p:nvPr/>
        </p:nvSpPr>
        <p:spPr>
          <a:xfrm>
            <a:off x="3985792" y="2991300"/>
            <a:ext cx="3447780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65</a:t>
            </a:r>
            <a:endParaRPr lang="ko-KR" altLang="en-US" sz="900" dirty="0"/>
          </a:p>
        </p:txBody>
      </p:sp>
      <p:sp>
        <p:nvSpPr>
          <p:cNvPr id="1048" name="사각형: 둥근 모서리 1047">
            <a:extLst>
              <a:ext uri="{FF2B5EF4-FFF2-40B4-BE49-F238E27FC236}">
                <a16:creationId xmlns:a16="http://schemas.microsoft.com/office/drawing/2014/main" id="{16D0E252-5E06-2F0B-2C05-4DD7A50FB261}"/>
              </a:ext>
            </a:extLst>
          </p:cNvPr>
          <p:cNvSpPr/>
          <p:nvPr/>
        </p:nvSpPr>
        <p:spPr>
          <a:xfrm>
            <a:off x="3994352" y="3775270"/>
            <a:ext cx="2777924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49" name="사각형: 둥근 모서리 1048">
            <a:extLst>
              <a:ext uri="{FF2B5EF4-FFF2-40B4-BE49-F238E27FC236}">
                <a16:creationId xmlns:a16="http://schemas.microsoft.com/office/drawing/2014/main" id="{444EFD88-628D-3BCE-81F9-F802F23AB6C2}"/>
              </a:ext>
            </a:extLst>
          </p:cNvPr>
          <p:cNvSpPr/>
          <p:nvPr/>
        </p:nvSpPr>
        <p:spPr>
          <a:xfrm>
            <a:off x="3997670" y="4162217"/>
            <a:ext cx="2470030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50</a:t>
            </a:r>
            <a:endParaRPr lang="ko-KR" altLang="en-US" sz="900" dirty="0"/>
          </a:p>
        </p:txBody>
      </p:sp>
      <p:sp>
        <p:nvSpPr>
          <p:cNvPr id="1050" name="사각형: 둥근 모서리 1049">
            <a:extLst>
              <a:ext uri="{FF2B5EF4-FFF2-40B4-BE49-F238E27FC236}">
                <a16:creationId xmlns:a16="http://schemas.microsoft.com/office/drawing/2014/main" id="{AE3895D0-DB87-0D5D-35BF-551977A84353}"/>
              </a:ext>
            </a:extLst>
          </p:cNvPr>
          <p:cNvSpPr/>
          <p:nvPr/>
        </p:nvSpPr>
        <p:spPr>
          <a:xfrm>
            <a:off x="3992133" y="4562368"/>
            <a:ext cx="263700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52</a:t>
            </a:r>
            <a:endParaRPr lang="ko-KR" altLang="en-US" sz="900" dirty="0"/>
          </a:p>
        </p:txBody>
      </p:sp>
      <p:sp>
        <p:nvSpPr>
          <p:cNvPr id="1051" name="사각형: 둥근 모서리 1050">
            <a:extLst>
              <a:ext uri="{FF2B5EF4-FFF2-40B4-BE49-F238E27FC236}">
                <a16:creationId xmlns:a16="http://schemas.microsoft.com/office/drawing/2014/main" id="{0297C140-FDB6-4936-8B05-EEF35F244563}"/>
              </a:ext>
            </a:extLst>
          </p:cNvPr>
          <p:cNvSpPr/>
          <p:nvPr/>
        </p:nvSpPr>
        <p:spPr>
          <a:xfrm>
            <a:off x="3988224" y="4956377"/>
            <a:ext cx="2957657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57</a:t>
            </a:r>
            <a:endParaRPr lang="ko-KR" altLang="en-US" sz="900" dirty="0"/>
          </a:p>
        </p:txBody>
      </p:sp>
      <p:sp>
        <p:nvSpPr>
          <p:cNvPr id="1052" name="사각형: 둥근 모서리 1051">
            <a:extLst>
              <a:ext uri="{FF2B5EF4-FFF2-40B4-BE49-F238E27FC236}">
                <a16:creationId xmlns:a16="http://schemas.microsoft.com/office/drawing/2014/main" id="{E7FCD41E-83AE-9EEC-F360-AA08D6309103}"/>
              </a:ext>
            </a:extLst>
          </p:cNvPr>
          <p:cNvSpPr/>
          <p:nvPr/>
        </p:nvSpPr>
        <p:spPr>
          <a:xfrm>
            <a:off x="3993308" y="5336214"/>
            <a:ext cx="2876961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55</a:t>
            </a:r>
            <a:endParaRPr lang="ko-KR" altLang="en-US" sz="900" dirty="0"/>
          </a:p>
        </p:txBody>
      </p:sp>
      <p:sp>
        <p:nvSpPr>
          <p:cNvPr id="1053" name="사각형: 둥근 모서리 1052">
            <a:extLst>
              <a:ext uri="{FF2B5EF4-FFF2-40B4-BE49-F238E27FC236}">
                <a16:creationId xmlns:a16="http://schemas.microsoft.com/office/drawing/2014/main" id="{CEB5BC5E-3D0B-94AC-328D-A70458FD2136}"/>
              </a:ext>
            </a:extLst>
          </p:cNvPr>
          <p:cNvSpPr/>
          <p:nvPr/>
        </p:nvSpPr>
        <p:spPr>
          <a:xfrm>
            <a:off x="3989043" y="5730223"/>
            <a:ext cx="3226795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60</a:t>
            </a:r>
            <a:endParaRPr lang="ko-KR" altLang="en-US" sz="900" dirty="0"/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71FA2762-8FCE-285F-D564-B43868BA3A98}"/>
              </a:ext>
            </a:extLst>
          </p:cNvPr>
          <p:cNvSpPr/>
          <p:nvPr/>
        </p:nvSpPr>
        <p:spPr>
          <a:xfrm>
            <a:off x="3990363" y="3384745"/>
            <a:ext cx="3066103" cy="11229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72000" rtlCol="0" anchor="ctr"/>
          <a:lstStyle/>
          <a:p>
            <a:pPr algn="r"/>
            <a:r>
              <a:rPr lang="en-US" altLang="ko-KR" sz="900" dirty="0"/>
              <a:t>57</a:t>
            </a:r>
            <a:endParaRPr lang="ko-KR" altLang="en-US" sz="900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5AA8FF5-A71E-4E4C-2E3E-793E1125698D}"/>
              </a:ext>
            </a:extLst>
          </p:cNvPr>
          <p:cNvSpPr/>
          <p:nvPr/>
        </p:nvSpPr>
        <p:spPr>
          <a:xfrm>
            <a:off x="2669696" y="1980844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설계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6" name="직사각형 1025">
            <a:extLst>
              <a:ext uri="{FF2B5EF4-FFF2-40B4-BE49-F238E27FC236}">
                <a16:creationId xmlns:a16="http://schemas.microsoft.com/office/drawing/2014/main" id="{D4B09487-A2AB-C5AC-FD2A-CBC88BDAF350}"/>
              </a:ext>
            </a:extLst>
          </p:cNvPr>
          <p:cNvSpPr/>
          <p:nvPr/>
        </p:nvSpPr>
        <p:spPr>
          <a:xfrm>
            <a:off x="2669697" y="2367791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2.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수업운영 및 평가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9D0C5EF5-A853-2F4E-CAAD-95AC15BF793C}"/>
              </a:ext>
            </a:extLst>
          </p:cNvPr>
          <p:cNvSpPr/>
          <p:nvPr/>
        </p:nvSpPr>
        <p:spPr>
          <a:xfrm>
            <a:off x="2669697" y="2758133"/>
            <a:ext cx="1362221" cy="39549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4" name="직사각형 1023">
            <a:extLst>
              <a:ext uri="{FF2B5EF4-FFF2-40B4-BE49-F238E27FC236}">
                <a16:creationId xmlns:a16="http://schemas.microsoft.com/office/drawing/2014/main" id="{6FC37048-E2CA-C911-8A21-6B29979C8113}"/>
              </a:ext>
            </a:extLst>
          </p:cNvPr>
          <p:cNvSpPr/>
          <p:nvPr/>
        </p:nvSpPr>
        <p:spPr>
          <a:xfrm>
            <a:off x="2669697" y="3546609"/>
            <a:ext cx="136684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5.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학급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학교 경영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28" name="직사각형 1027">
            <a:extLst>
              <a:ext uri="{FF2B5EF4-FFF2-40B4-BE49-F238E27FC236}">
                <a16:creationId xmlns:a16="http://schemas.microsoft.com/office/drawing/2014/main" id="{C83808F9-835D-851D-0E73-681195CA0226}"/>
              </a:ext>
            </a:extLst>
          </p:cNvPr>
          <p:cNvSpPr/>
          <p:nvPr/>
        </p:nvSpPr>
        <p:spPr>
          <a:xfrm>
            <a:off x="2669698" y="3933556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6.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소통 및 협력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019C4BEA-43D2-1AC0-8A28-8459E4799841}"/>
              </a:ext>
            </a:extLst>
          </p:cNvPr>
          <p:cNvSpPr/>
          <p:nvPr/>
        </p:nvSpPr>
        <p:spPr>
          <a:xfrm>
            <a:off x="2669698" y="4326699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7.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교육생태계 활용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3" name="직사각형 1032">
            <a:extLst>
              <a:ext uri="{FF2B5EF4-FFF2-40B4-BE49-F238E27FC236}">
                <a16:creationId xmlns:a16="http://schemas.microsoft.com/office/drawing/2014/main" id="{6929868E-411C-73D3-4367-6C6034D7461E}"/>
              </a:ext>
            </a:extLst>
          </p:cNvPr>
          <p:cNvSpPr/>
          <p:nvPr/>
        </p:nvSpPr>
        <p:spPr>
          <a:xfrm>
            <a:off x="2669698" y="4721883"/>
            <a:ext cx="1362220" cy="39769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8.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변화대응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디지털</a:t>
            </a:r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E6F0-CA95-FA4B-1BD6-F26F5900CC6D}"/>
              </a:ext>
            </a:extLst>
          </p:cNvPr>
          <p:cNvSpPr/>
          <p:nvPr/>
        </p:nvSpPr>
        <p:spPr>
          <a:xfrm>
            <a:off x="2669698" y="5116135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9.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전문성개발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1F4562-61B2-DA03-3B28-2BA0A86D8E74}"/>
              </a:ext>
            </a:extLst>
          </p:cNvPr>
          <p:cNvSpPr/>
          <p:nvPr/>
        </p:nvSpPr>
        <p:spPr>
          <a:xfrm>
            <a:off x="2669697" y="3156267"/>
            <a:ext cx="1354621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4.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진로교육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15C922-EA6D-668E-0A6D-E111E9619966}"/>
              </a:ext>
            </a:extLst>
          </p:cNvPr>
          <p:cNvSpPr/>
          <p:nvPr/>
        </p:nvSpPr>
        <p:spPr>
          <a:xfrm>
            <a:off x="2665599" y="5506941"/>
            <a:ext cx="1362220" cy="39080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  <a:latin typeface="나눔고딕" pitchFamily="2" charset="-127"/>
              </a:rPr>
              <a:t>10. </a:t>
            </a:r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자기관리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49D351BD-06C8-FD27-2431-A592C3FCCBC7}"/>
              </a:ext>
            </a:extLst>
          </p:cNvPr>
          <p:cNvSpPr/>
          <p:nvPr/>
        </p:nvSpPr>
        <p:spPr>
          <a:xfrm>
            <a:off x="1631950" y="1980843"/>
            <a:ext cx="1037748" cy="77775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교육과정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5" name="직사각형 1034">
            <a:extLst>
              <a:ext uri="{FF2B5EF4-FFF2-40B4-BE49-F238E27FC236}">
                <a16:creationId xmlns:a16="http://schemas.microsoft.com/office/drawing/2014/main" id="{194001FA-02CC-5B1E-A5CF-0A61778474D7}"/>
              </a:ext>
            </a:extLst>
          </p:cNvPr>
          <p:cNvSpPr/>
          <p:nvPr/>
        </p:nvSpPr>
        <p:spPr>
          <a:xfrm>
            <a:off x="1631950" y="2758133"/>
            <a:ext cx="1037748" cy="7912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생활교육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D5B76227-F73F-6BB1-2560-05453E9690D2}"/>
              </a:ext>
            </a:extLst>
          </p:cNvPr>
          <p:cNvSpPr/>
          <p:nvPr/>
        </p:nvSpPr>
        <p:spPr>
          <a:xfrm>
            <a:off x="1631950" y="3546608"/>
            <a:ext cx="1037748" cy="78213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학교 공동체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30" name="직사각형 1029">
            <a:extLst>
              <a:ext uri="{FF2B5EF4-FFF2-40B4-BE49-F238E27FC236}">
                <a16:creationId xmlns:a16="http://schemas.microsoft.com/office/drawing/2014/main" id="{0650AB7F-9866-92EE-2800-DAB1AA2CA257}"/>
              </a:ext>
            </a:extLst>
          </p:cNvPr>
          <p:cNvSpPr/>
          <p:nvPr/>
        </p:nvSpPr>
        <p:spPr>
          <a:xfrm>
            <a:off x="1631950" y="5111755"/>
            <a:ext cx="1037748" cy="78599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자기개발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3CEADA-48F4-9AB1-EF60-3E98F222D9FC}"/>
              </a:ext>
            </a:extLst>
          </p:cNvPr>
          <p:cNvSpPr/>
          <p:nvPr/>
        </p:nvSpPr>
        <p:spPr>
          <a:xfrm>
            <a:off x="1631950" y="4335084"/>
            <a:ext cx="1037748" cy="78105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나눔고딕" pitchFamily="2" charset="-127"/>
              </a:rPr>
              <a:t>문제 해결 </a:t>
            </a:r>
            <a:r>
              <a:rPr lang="ko-KR" altLang="en-US" sz="1000" dirty="0" err="1">
                <a:solidFill>
                  <a:schemeClr val="tx1"/>
                </a:solidFill>
                <a:latin typeface="나눔고딕" pitchFamily="2" charset="-127"/>
              </a:rPr>
              <a:t>역량군</a:t>
            </a:r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5831E4AD-1499-33EB-191C-AEA5B1A047BB}"/>
              </a:ext>
            </a:extLst>
          </p:cNvPr>
          <p:cNvSpPr/>
          <p:nvPr/>
        </p:nvSpPr>
        <p:spPr>
          <a:xfrm>
            <a:off x="7583491" y="1639483"/>
            <a:ext cx="1885736" cy="323032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01B44170-076A-A3A0-6274-616B3865D704}"/>
              </a:ext>
            </a:extLst>
          </p:cNvPr>
          <p:cNvSpPr/>
          <p:nvPr/>
        </p:nvSpPr>
        <p:spPr>
          <a:xfrm>
            <a:off x="3981503" y="1966893"/>
            <a:ext cx="5487723" cy="3963024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0246C7-10D2-1714-F35B-6B2E314750A2}"/>
              </a:ext>
            </a:extLst>
          </p:cNvPr>
          <p:cNvSpPr/>
          <p:nvPr/>
        </p:nvSpPr>
        <p:spPr>
          <a:xfrm>
            <a:off x="7722800" y="1756635"/>
            <a:ext cx="162000" cy="14869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4E06E-C401-B718-6BD0-83C74D68A622}"/>
              </a:ext>
            </a:extLst>
          </p:cNvPr>
          <p:cNvSpPr/>
          <p:nvPr/>
        </p:nvSpPr>
        <p:spPr>
          <a:xfrm>
            <a:off x="8628389" y="1756635"/>
            <a:ext cx="162000" cy="14869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B276C3E-682E-A549-B63F-083F5BC7A379}"/>
              </a:ext>
            </a:extLst>
          </p:cNvPr>
          <p:cNvGrpSpPr/>
          <p:nvPr/>
        </p:nvGrpSpPr>
        <p:grpSpPr>
          <a:xfrm>
            <a:off x="7490572" y="1132325"/>
            <a:ext cx="2137796" cy="241210"/>
            <a:chOff x="6491499" y="4815340"/>
            <a:chExt cx="2137796" cy="24121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7997551-2F52-838F-4139-4A64F04F3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499" y="4839023"/>
              <a:ext cx="165600" cy="165600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6CFD3C5-8190-778E-ABD7-221664E01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8400" y="4839023"/>
              <a:ext cx="165600" cy="1656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32AC83-0548-9FDE-1BBB-28899A437761}"/>
                </a:ext>
              </a:extLst>
            </p:cNvPr>
            <p:cNvSpPr txBox="1"/>
            <p:nvPr/>
          </p:nvSpPr>
          <p:spPr>
            <a:xfrm>
              <a:off x="6651442" y="4825718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다른 차수 비교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B5FB9A-A6A7-7423-FB8C-585430D41A44}"/>
                </a:ext>
              </a:extLst>
            </p:cNvPr>
            <p:cNvSpPr txBox="1"/>
            <p:nvPr/>
          </p:nvSpPr>
          <p:spPr>
            <a:xfrm>
              <a:off x="7689453" y="4815340"/>
              <a:ext cx="93984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유사그룹 비교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3972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9CD8EB6-01E7-A4AA-CBFC-EF27C59FD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DFB5198-C43E-9A19-62E6-4691A6A8AC0D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85E469A-14CA-3178-3766-65C17B72AB8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6922246E-496D-1134-23F4-8ED979AB4BA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502992E7-F56D-B55E-2B5E-154D897A025F}"/>
              </a:ext>
            </a:extLst>
          </p:cNvPr>
          <p:cNvGraphicFramePr/>
          <p:nvPr/>
        </p:nvGraphicFramePr>
        <p:xfrm>
          <a:off x="9655174" y="276226"/>
          <a:ext cx="2532687" cy="9704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미리보기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화면 콘텐츠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 핵심역량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역량진단 결과 정보를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CC030C-FF4D-D708-144F-74C26004D0F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E1983C-F78E-F913-2D1D-2A9B2B43F7E4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647EDC-09F7-39ED-612B-5CF7DE40F051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미리보기 팝업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D2CC6BD-E2DF-BF99-B8A0-8D9BB2910877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grpSp>
        <p:nvGrpSpPr>
          <p:cNvPr id="1075" name="그룹 1074">
            <a:extLst>
              <a:ext uri="{FF2B5EF4-FFF2-40B4-BE49-F238E27FC236}">
                <a16:creationId xmlns:a16="http://schemas.microsoft.com/office/drawing/2014/main" id="{44631211-84BB-C58B-F61E-A8CD6253E403}"/>
              </a:ext>
            </a:extLst>
          </p:cNvPr>
          <p:cNvGrpSpPr/>
          <p:nvPr/>
        </p:nvGrpSpPr>
        <p:grpSpPr>
          <a:xfrm>
            <a:off x="1487486" y="399833"/>
            <a:ext cx="8026578" cy="5922173"/>
            <a:chOff x="1487486" y="399833"/>
            <a:chExt cx="8026578" cy="592217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534F2FA-A371-344A-9E47-A9BFE69BDE7C}"/>
                </a:ext>
              </a:extLst>
            </p:cNvPr>
            <p:cNvSpPr txBox="1"/>
            <p:nvPr/>
          </p:nvSpPr>
          <p:spPr>
            <a:xfrm>
              <a:off x="1487486" y="3770456"/>
              <a:ext cx="11781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역량진단</a:t>
              </a:r>
              <a:r>
                <a:rPr lang="en-US" altLang="ko-KR" sz="12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이력</a:t>
              </a:r>
              <a:endParaRPr lang="en-US" altLang="ko-KR" sz="12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" name="TextBox 107">
              <a:extLst>
                <a:ext uri="{FF2B5EF4-FFF2-40B4-BE49-F238E27FC236}">
                  <a16:creationId xmlns:a16="http://schemas.microsoft.com/office/drawing/2014/main" id="{DDC0F81E-A538-8EC3-661E-98D5FC257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487" y="4055086"/>
              <a:ext cx="4503115" cy="5226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선생님께서는 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총 </a:t>
              </a:r>
              <a:r>
                <a:rPr lang="en-US" altLang="ko-KR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2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회 진단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을 하셨습니다</a:t>
              </a:r>
              <a:r>
                <a:rPr lang="en-US" altLang="ko-KR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</a:p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진단결과는 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‘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결과보기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’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를 클릭하시면 진단결과를 확인하실 수 있습니다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sp>
          <p:nvSpPr>
            <p:cNvPr id="9" name="Button">
              <a:extLst>
                <a:ext uri="{FF2B5EF4-FFF2-40B4-BE49-F238E27FC236}">
                  <a16:creationId xmlns:a16="http://schemas.microsoft.com/office/drawing/2014/main" id="{99E91A83-ACBC-E469-3CA9-C00AA01A1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6893" y="5352250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7F7F7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effectLst/>
                <a:latin typeface="Calibri"/>
              </a:endParaRPr>
            </a:p>
          </p:txBody>
        </p:sp>
        <p:sp>
          <p:nvSpPr>
            <p:cNvPr id="11" name="Button">
              <a:extLst>
                <a:ext uri="{FF2B5EF4-FFF2-40B4-BE49-F238E27FC236}">
                  <a16:creationId xmlns:a16="http://schemas.microsoft.com/office/drawing/2014/main" id="{0E0FDD67-BE3D-9C4D-CEB5-4B78FA541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571742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sp>
          <p:nvSpPr>
            <p:cNvPr id="12" name="Button">
              <a:extLst>
                <a:ext uri="{FF2B5EF4-FFF2-40B4-BE49-F238E27FC236}">
                  <a16:creationId xmlns:a16="http://schemas.microsoft.com/office/drawing/2014/main" id="{03AB450B-EABC-A64B-B2AF-668EBBA1D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607000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447FB5FB-0B11-0F85-D410-63183E57DFCF}"/>
                </a:ext>
              </a:extLst>
            </p:cNvPr>
            <p:cNvGrpSpPr/>
            <p:nvPr/>
          </p:nvGrpSpPr>
          <p:grpSpPr>
            <a:xfrm>
              <a:off x="1555925" y="399833"/>
              <a:ext cx="7958139" cy="2912005"/>
              <a:chOff x="1555925" y="446723"/>
              <a:chExt cx="7958139" cy="2912005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AA3437FB-55AE-50C5-4E74-C90776CE5542}"/>
                  </a:ext>
                </a:extLst>
              </p:cNvPr>
              <p:cNvSpPr/>
              <p:nvPr/>
            </p:nvSpPr>
            <p:spPr>
              <a:xfrm>
                <a:off x="1555925" y="446723"/>
                <a:ext cx="7958139" cy="29120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1DA6A37A-025C-041D-9CA8-7B21F1F0CA38}"/>
                  </a:ext>
                </a:extLst>
              </p:cNvPr>
              <p:cNvSpPr/>
              <p:nvPr/>
            </p:nvSpPr>
            <p:spPr>
              <a:xfrm>
                <a:off x="4028457" y="90950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E3793B6F-7B51-E674-3C48-A844E3FE1B85}"/>
                  </a:ext>
                </a:extLst>
              </p:cNvPr>
              <p:cNvSpPr/>
              <p:nvPr/>
            </p:nvSpPr>
            <p:spPr>
              <a:xfrm>
                <a:off x="4028457" y="1296456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F4D94C71-3973-C1CB-6F90-AF1D26342B76}"/>
                  </a:ext>
                </a:extLst>
              </p:cNvPr>
              <p:cNvSpPr/>
              <p:nvPr/>
            </p:nvSpPr>
            <p:spPr>
              <a:xfrm>
                <a:off x="4028457" y="168959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EFDC1464-FEF5-C18B-DA9D-80B52C8AAC79}"/>
                  </a:ext>
                </a:extLst>
              </p:cNvPr>
              <p:cNvSpPr/>
              <p:nvPr/>
            </p:nvSpPr>
            <p:spPr>
              <a:xfrm>
                <a:off x="4028457" y="2084784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C1580928-0A41-E50E-744B-B126860C89A0}"/>
                  </a:ext>
                </a:extLst>
              </p:cNvPr>
              <p:cNvSpPr/>
              <p:nvPr/>
            </p:nvSpPr>
            <p:spPr>
              <a:xfrm>
                <a:off x="4028457" y="2479035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B230B3DB-62AC-B864-AE31-FF0F52273942}"/>
                  </a:ext>
                </a:extLst>
              </p:cNvPr>
              <p:cNvSpPr/>
              <p:nvPr/>
            </p:nvSpPr>
            <p:spPr>
              <a:xfrm>
                <a:off x="4024318" y="2869841"/>
                <a:ext cx="541562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753A3696-6027-415A-78E5-D1CD298055CE}"/>
                  </a:ext>
                </a:extLst>
              </p:cNvPr>
              <p:cNvSpPr/>
              <p:nvPr/>
            </p:nvSpPr>
            <p:spPr>
              <a:xfrm>
                <a:off x="3957802" y="1027010"/>
                <a:ext cx="3424820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74</a:t>
                </a:r>
                <a:endParaRPr lang="ko-KR" altLang="en-US" sz="900" dirty="0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F3877423-03C7-FC7A-518E-3BF92F9D9C97}"/>
                  </a:ext>
                </a:extLst>
              </p:cNvPr>
              <p:cNvSpPr/>
              <p:nvPr/>
            </p:nvSpPr>
            <p:spPr>
              <a:xfrm>
                <a:off x="3965174" y="1413957"/>
                <a:ext cx="304522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66</a:t>
                </a:r>
                <a:endParaRPr lang="ko-KR" altLang="en-US" sz="9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58564103-C9A9-2B30-4B80-5A8CA3BEBABF}"/>
                  </a:ext>
                </a:extLst>
              </p:cNvPr>
              <p:cNvSpPr/>
              <p:nvPr/>
            </p:nvSpPr>
            <p:spPr>
              <a:xfrm>
                <a:off x="3961249" y="1814108"/>
                <a:ext cx="3247271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70</a:t>
                </a:r>
                <a:endParaRPr lang="ko-KR" altLang="en-US" sz="900" dirty="0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C6117391-18BE-1D00-8AD6-4282B8A65889}"/>
                  </a:ext>
                </a:extLst>
              </p:cNvPr>
              <p:cNvSpPr/>
              <p:nvPr/>
            </p:nvSpPr>
            <p:spPr>
              <a:xfrm>
                <a:off x="3953580" y="2208117"/>
                <a:ext cx="3642134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77</a:t>
                </a:r>
                <a:endParaRPr lang="ko-KR" altLang="en-US" sz="900" dirty="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A83BB8C3-86B4-159B-44B8-3E3A518944F1}"/>
                  </a:ext>
                </a:extLst>
              </p:cNvPr>
              <p:cNvSpPr/>
              <p:nvPr/>
            </p:nvSpPr>
            <p:spPr>
              <a:xfrm>
                <a:off x="3959609" y="2587954"/>
                <a:ext cx="3542763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75</a:t>
                </a:r>
                <a:endParaRPr lang="ko-KR" altLang="en-US" sz="900" dirty="0"/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B509BFB5-45AB-CD7B-24F7-1A45A0DED99C}"/>
                  </a:ext>
                </a:extLst>
              </p:cNvPr>
              <p:cNvSpPr/>
              <p:nvPr/>
            </p:nvSpPr>
            <p:spPr>
              <a:xfrm>
                <a:off x="3951243" y="2981963"/>
                <a:ext cx="397355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82</a:t>
                </a:r>
                <a:endParaRPr lang="ko-KR" altLang="en-US" sz="900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E84615D5-6912-8BAC-8996-45F5097C37FC}"/>
                  </a:ext>
                </a:extLst>
              </p:cNvPr>
              <p:cNvSpPr/>
              <p:nvPr/>
            </p:nvSpPr>
            <p:spPr>
              <a:xfrm>
                <a:off x="4036540" y="519167"/>
                <a:ext cx="5407498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05480D18-9C7D-AD72-9C4B-37B13C5BD987}"/>
                  </a:ext>
                </a:extLst>
              </p:cNvPr>
              <p:cNvSpPr/>
              <p:nvPr/>
            </p:nvSpPr>
            <p:spPr>
              <a:xfrm>
                <a:off x="3966514" y="636485"/>
                <a:ext cx="3771229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71</a:t>
                </a:r>
                <a:endParaRPr lang="ko-KR" altLang="en-US" sz="900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9F63DA3E-562E-C09F-4387-154C3E5A7076}"/>
                  </a:ext>
                </a:extLst>
              </p:cNvPr>
              <p:cNvSpPr/>
              <p:nvPr/>
            </p:nvSpPr>
            <p:spPr>
              <a:xfrm>
                <a:off x="1631950" y="909508"/>
                <a:ext cx="1037748" cy="7821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공동체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F5B99173-D865-A032-CF19-E7D953D04ADA}"/>
                  </a:ext>
                </a:extLst>
              </p:cNvPr>
              <p:cNvSpPr/>
              <p:nvPr/>
            </p:nvSpPr>
            <p:spPr>
              <a:xfrm>
                <a:off x="2669697" y="90950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5.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학급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/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경영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6C0C5631-0692-8153-2D79-1A27CB20E8A3}"/>
                  </a:ext>
                </a:extLst>
              </p:cNvPr>
              <p:cNvSpPr/>
              <p:nvPr/>
            </p:nvSpPr>
            <p:spPr>
              <a:xfrm>
                <a:off x="2669697" y="1296456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6.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소통 및 협력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7DD4D285-C3CC-F363-60BF-0604A28C1353}"/>
                  </a:ext>
                </a:extLst>
              </p:cNvPr>
              <p:cNvSpPr/>
              <p:nvPr/>
            </p:nvSpPr>
            <p:spPr>
              <a:xfrm>
                <a:off x="2669697" y="168959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7.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교육생태계 활용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8E65A400-0742-310F-1D02-E27FC1A64778}"/>
                  </a:ext>
                </a:extLst>
              </p:cNvPr>
              <p:cNvSpPr/>
              <p:nvPr/>
            </p:nvSpPr>
            <p:spPr>
              <a:xfrm>
                <a:off x="2669697" y="2084784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8.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변화대응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디지털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156CA889-6EAA-BBCF-00A4-272D88FA3484}"/>
                  </a:ext>
                </a:extLst>
              </p:cNvPr>
              <p:cNvSpPr/>
              <p:nvPr/>
            </p:nvSpPr>
            <p:spPr>
              <a:xfrm>
                <a:off x="2669697" y="2479035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9.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전문성개발</a:t>
                </a: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FD80DBBF-F700-9C68-0A70-20ACEBECAC5C}"/>
                  </a:ext>
                </a:extLst>
              </p:cNvPr>
              <p:cNvSpPr/>
              <p:nvPr/>
            </p:nvSpPr>
            <p:spPr>
              <a:xfrm>
                <a:off x="2665598" y="2869841"/>
                <a:ext cx="1375595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10.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자기관리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45085E66-9AAA-04D6-D922-EACC93B7613C}"/>
                  </a:ext>
                </a:extLst>
              </p:cNvPr>
              <p:cNvSpPr/>
              <p:nvPr/>
            </p:nvSpPr>
            <p:spPr>
              <a:xfrm>
                <a:off x="1631950" y="1688534"/>
                <a:ext cx="1037748" cy="7905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문제 해결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8F40FEAF-3E3E-777F-0EF9-16C45032C519}"/>
                  </a:ext>
                </a:extLst>
              </p:cNvPr>
              <p:cNvSpPr/>
              <p:nvPr/>
            </p:nvSpPr>
            <p:spPr>
              <a:xfrm>
                <a:off x="1631950" y="521290"/>
                <a:ext cx="1037748" cy="3886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6E920607-3433-5A74-0237-5AE4EE6157F0}"/>
                  </a:ext>
                </a:extLst>
              </p:cNvPr>
              <p:cNvSpPr/>
              <p:nvPr/>
            </p:nvSpPr>
            <p:spPr>
              <a:xfrm>
                <a:off x="2669697" y="519167"/>
                <a:ext cx="1366844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4.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진로교육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AE80A0B1-4B11-BAFF-B950-8ADE91A307E8}"/>
                  </a:ext>
                </a:extLst>
              </p:cNvPr>
              <p:cNvSpPr/>
              <p:nvPr/>
            </p:nvSpPr>
            <p:spPr>
              <a:xfrm>
                <a:off x="1631950" y="2474655"/>
                <a:ext cx="1037748" cy="7859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자기개발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0E21D252-77F6-F32B-3B09-17883260B2DF}"/>
                </a:ext>
              </a:extLst>
            </p:cNvPr>
            <p:cNvGrpSpPr/>
            <p:nvPr/>
          </p:nvGrpSpPr>
          <p:grpSpPr>
            <a:xfrm>
              <a:off x="5499934" y="4646167"/>
              <a:ext cx="4012068" cy="226043"/>
              <a:chOff x="-1867458" y="928991"/>
              <a:chExt cx="4012068" cy="226043"/>
            </a:xfrm>
          </p:grpSpPr>
          <p:sp>
            <p:nvSpPr>
              <p:cNvPr id="102" name="Input">
                <a:extLst>
                  <a:ext uri="{FF2B5EF4-FFF2-40B4-BE49-F238E27FC236}">
                    <a16:creationId xmlns:a16="http://schemas.microsoft.com/office/drawing/2014/main" id="{DF338401-4754-8510-14D0-B9547E33755B}"/>
                  </a:ext>
                </a:extLst>
              </p:cNvPr>
              <p:cNvSpPr/>
              <p:nvPr/>
            </p:nvSpPr>
            <p:spPr>
              <a:xfrm>
                <a:off x="-1867458" y="928991"/>
                <a:ext cx="3472616" cy="224895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50400" rIns="90000" bIns="504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Input">
                <a:extLst>
                  <a:ext uri="{FF2B5EF4-FFF2-40B4-BE49-F238E27FC236}">
                    <a16:creationId xmlns:a16="http://schemas.microsoft.com/office/drawing/2014/main" id="{42C24777-66C2-5A3A-44CB-8E1BBCCBAF6E}"/>
                  </a:ext>
                </a:extLst>
              </p:cNvPr>
              <p:cNvSpPr/>
              <p:nvPr/>
            </p:nvSpPr>
            <p:spPr>
              <a:xfrm>
                <a:off x="1676610" y="928991"/>
                <a:ext cx="468000" cy="226043"/>
              </a:xfrm>
              <a:prstGeom prst="roundRect">
                <a:avLst>
                  <a:gd name="adj" fmla="val 793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검색</a:t>
                </a:r>
                <a:endPara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6A48F7FB-6A59-949B-9A3B-BDB3D64EF0F7}"/>
                </a:ext>
              </a:extLst>
            </p:cNvPr>
            <p:cNvGrpSpPr/>
            <p:nvPr/>
          </p:nvGrpSpPr>
          <p:grpSpPr>
            <a:xfrm>
              <a:off x="1567257" y="4623280"/>
              <a:ext cx="3226222" cy="254966"/>
              <a:chOff x="3398172" y="906104"/>
              <a:chExt cx="3226222" cy="254966"/>
            </a:xfrm>
          </p:grpSpPr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2FC61F0-FC26-3367-F625-4C702BFEABB4}"/>
                  </a:ext>
                </a:extLst>
              </p:cNvPr>
              <p:cNvGrpSpPr/>
              <p:nvPr/>
            </p:nvGrpSpPr>
            <p:grpSpPr>
              <a:xfrm>
                <a:off x="3398172" y="906104"/>
                <a:ext cx="2234383" cy="254966"/>
                <a:chOff x="3537305" y="894901"/>
                <a:chExt cx="2234383" cy="254966"/>
              </a:xfrm>
            </p:grpSpPr>
            <p:sp>
              <p:nvSpPr>
                <p:cNvPr id="1060" name="TextBox 107">
                  <a:extLst>
                    <a:ext uri="{FF2B5EF4-FFF2-40B4-BE49-F238E27FC236}">
                      <a16:creationId xmlns:a16="http://schemas.microsoft.com/office/drawing/2014/main" id="{73E76993-5A2D-1D34-A5E6-F451B008DF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7305" y="929299"/>
                  <a:ext cx="306187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ko-KR" altLang="en-US" sz="800" dirty="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기간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  <p:grpSp>
              <p:nvGrpSpPr>
                <p:cNvPr id="1061" name="그룹 1060">
                  <a:extLst>
                    <a:ext uri="{FF2B5EF4-FFF2-40B4-BE49-F238E27FC236}">
                      <a16:creationId xmlns:a16="http://schemas.microsoft.com/office/drawing/2014/main" id="{7330F80E-6E88-2E7F-7620-8318834D6B08}"/>
                    </a:ext>
                  </a:extLst>
                </p:cNvPr>
                <p:cNvGrpSpPr/>
                <p:nvPr/>
              </p:nvGrpSpPr>
              <p:grpSpPr>
                <a:xfrm>
                  <a:off x="3847631" y="896796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6" name="Input">
                    <a:extLst>
                      <a:ext uri="{FF2B5EF4-FFF2-40B4-BE49-F238E27FC236}">
                        <a16:creationId xmlns:a16="http://schemas.microsoft.com/office/drawing/2014/main" id="{3FFD7293-0348-EA44-87CB-56A1E115D8AA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7" name="그래픽 1066" descr="플립 달력">
                    <a:extLst>
                      <a:ext uri="{FF2B5EF4-FFF2-40B4-BE49-F238E27FC236}">
                        <a16:creationId xmlns:a16="http://schemas.microsoft.com/office/drawing/2014/main" id="{0010949C-2F7F-236F-3B96-BB952BCA01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62" name="그룹 1061">
                  <a:extLst>
                    <a:ext uri="{FF2B5EF4-FFF2-40B4-BE49-F238E27FC236}">
                      <a16:creationId xmlns:a16="http://schemas.microsoft.com/office/drawing/2014/main" id="{87CA8C46-6441-B202-EDBD-321EBD30DE45}"/>
                    </a:ext>
                  </a:extLst>
                </p:cNvPr>
                <p:cNvGrpSpPr/>
                <p:nvPr/>
              </p:nvGrpSpPr>
              <p:grpSpPr>
                <a:xfrm>
                  <a:off x="4882300" y="894901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4" name="Input">
                    <a:extLst>
                      <a:ext uri="{FF2B5EF4-FFF2-40B4-BE49-F238E27FC236}">
                        <a16:creationId xmlns:a16="http://schemas.microsoft.com/office/drawing/2014/main" id="{684262B4-B9A0-2F0E-6731-2FCC45886F0A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5" name="그래픽 1064" descr="플립 달력">
                    <a:extLst>
                      <a:ext uri="{FF2B5EF4-FFF2-40B4-BE49-F238E27FC236}">
                        <a16:creationId xmlns:a16="http://schemas.microsoft.com/office/drawing/2014/main" id="{BF06678C-B531-054C-A848-BD0AA23129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63" name="TextBox 107">
                  <a:extLst>
                    <a:ext uri="{FF2B5EF4-FFF2-40B4-BE49-F238E27FC236}">
                      <a16:creationId xmlns:a16="http://schemas.microsoft.com/office/drawing/2014/main" id="{6BFEC6E3-62F9-A100-F68B-9A3D6FB45DA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4960" y="923529"/>
                  <a:ext cx="137346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sz="80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~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</p:grpSp>
          <p:sp>
            <p:nvSpPr>
              <p:cNvPr id="1057" name="Input">
                <a:extLst>
                  <a:ext uri="{FF2B5EF4-FFF2-40B4-BE49-F238E27FC236}">
                    <a16:creationId xmlns:a16="http://schemas.microsoft.com/office/drawing/2014/main" id="{0354A8A1-1FA1-4D69-BDF8-30F6978C44D6}"/>
                  </a:ext>
                </a:extLst>
              </p:cNvPr>
              <p:cNvSpPr/>
              <p:nvPr/>
            </p:nvSpPr>
            <p:spPr>
              <a:xfrm>
                <a:off x="5680948" y="931691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8" name="Input">
                <a:extLst>
                  <a:ext uri="{FF2B5EF4-FFF2-40B4-BE49-F238E27FC236}">
                    <a16:creationId xmlns:a16="http://schemas.microsoft.com/office/drawing/2014/main" id="{F3432E24-17F8-7E00-DE86-2B915497C610}"/>
                  </a:ext>
                </a:extLst>
              </p:cNvPr>
              <p:cNvSpPr/>
              <p:nvPr/>
            </p:nvSpPr>
            <p:spPr>
              <a:xfrm>
                <a:off x="6006157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9" name="Input">
                <a:extLst>
                  <a:ext uri="{FF2B5EF4-FFF2-40B4-BE49-F238E27FC236}">
                    <a16:creationId xmlns:a16="http://schemas.microsoft.com/office/drawing/2014/main" id="{06C3F605-AF97-A0D1-1E19-394FDD2C0334}"/>
                  </a:ext>
                </a:extLst>
              </p:cNvPr>
              <p:cNvSpPr/>
              <p:nvPr/>
            </p:nvSpPr>
            <p:spPr>
              <a:xfrm>
                <a:off x="6332956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년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74" name="Input">
              <a:extLst>
                <a:ext uri="{FF2B5EF4-FFF2-40B4-BE49-F238E27FC236}">
                  <a16:creationId xmlns:a16="http://schemas.microsoft.com/office/drawing/2014/main" id="{DE8F95D8-904A-A9B4-803A-011D18139BEC}"/>
                </a:ext>
              </a:extLst>
            </p:cNvPr>
            <p:cNvSpPr/>
            <p:nvPr/>
          </p:nvSpPr>
          <p:spPr>
            <a:xfrm>
              <a:off x="5055379" y="3428355"/>
              <a:ext cx="958668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보고서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FCBED18B-F3D1-B66F-EC24-79482628D591}"/>
              </a:ext>
            </a:extLst>
          </p:cNvPr>
          <p:cNvSpPr/>
          <p:nvPr/>
        </p:nvSpPr>
        <p:spPr>
          <a:xfrm>
            <a:off x="1492483" y="409079"/>
            <a:ext cx="8096017" cy="6238212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188" name="그룹 1187">
            <a:extLst>
              <a:ext uri="{FF2B5EF4-FFF2-40B4-BE49-F238E27FC236}">
                <a16:creationId xmlns:a16="http://schemas.microsoft.com/office/drawing/2014/main" id="{223DAC52-13BC-B352-9736-69A1C268D6C0}"/>
              </a:ext>
            </a:extLst>
          </p:cNvPr>
          <p:cNvGrpSpPr/>
          <p:nvPr/>
        </p:nvGrpSpPr>
        <p:grpSpPr>
          <a:xfrm>
            <a:off x="1551786" y="546857"/>
            <a:ext cx="7960216" cy="4692217"/>
            <a:chOff x="1738149" y="871347"/>
            <a:chExt cx="7960216" cy="4692217"/>
          </a:xfrm>
        </p:grpSpPr>
        <p:sp>
          <p:nvSpPr>
            <p:cNvPr id="1189" name="모서리가 둥근 직사각형 25">
              <a:extLst>
                <a:ext uri="{FF2B5EF4-FFF2-40B4-BE49-F238E27FC236}">
                  <a16:creationId xmlns:a16="http://schemas.microsoft.com/office/drawing/2014/main" id="{60CE9D38-75AA-5651-A334-553B83DBDA6F}"/>
                </a:ext>
              </a:extLst>
            </p:cNvPr>
            <p:cNvSpPr/>
            <p:nvPr/>
          </p:nvSpPr>
          <p:spPr>
            <a:xfrm>
              <a:off x="1738149" y="871347"/>
              <a:ext cx="7960216" cy="4692217"/>
            </a:xfrm>
            <a:prstGeom prst="round2SameRect">
              <a:avLst>
                <a:gd name="adj1" fmla="val 2152"/>
                <a:gd name="adj2" fmla="val 3309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72D152F6-F420-D098-1969-10B9E7069EAB}"/>
                </a:ext>
              </a:extLst>
            </p:cNvPr>
            <p:cNvSpPr txBox="1"/>
            <p:nvPr/>
          </p:nvSpPr>
          <p:spPr>
            <a:xfrm>
              <a:off x="1753620" y="1180760"/>
              <a:ext cx="7944745" cy="567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년도 경기교원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핵심역량 진단 설문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(20260420)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진단결과 미리보기</a:t>
              </a:r>
            </a:p>
          </p:txBody>
        </p:sp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D1304379-5CA3-CA76-C4B6-4DDFA38BE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0130" y="995802"/>
              <a:ext cx="144000" cy="144000"/>
            </a:xfrm>
            <a:prstGeom prst="rect">
              <a:avLst/>
            </a:prstGeom>
          </p:spPr>
        </p:pic>
      </p:grpSp>
      <p:grpSp>
        <p:nvGrpSpPr>
          <p:cNvPr id="1192" name="그룹 1191">
            <a:extLst>
              <a:ext uri="{FF2B5EF4-FFF2-40B4-BE49-F238E27FC236}">
                <a16:creationId xmlns:a16="http://schemas.microsoft.com/office/drawing/2014/main" id="{01D95297-2E5F-BE7C-EF64-93D223332304}"/>
              </a:ext>
            </a:extLst>
          </p:cNvPr>
          <p:cNvGrpSpPr/>
          <p:nvPr/>
        </p:nvGrpSpPr>
        <p:grpSpPr>
          <a:xfrm>
            <a:off x="1638924" y="1491841"/>
            <a:ext cx="7792380" cy="3017740"/>
            <a:chOff x="-6667278" y="1308961"/>
            <a:chExt cx="7977279" cy="3017740"/>
          </a:xfrm>
        </p:grpSpPr>
        <p:grpSp>
          <p:nvGrpSpPr>
            <p:cNvPr id="1193" name="그룹 1192">
              <a:extLst>
                <a:ext uri="{FF2B5EF4-FFF2-40B4-BE49-F238E27FC236}">
                  <a16:creationId xmlns:a16="http://schemas.microsoft.com/office/drawing/2014/main" id="{9AABBFC8-8CBE-E271-E2C6-19F89C8D6336}"/>
                </a:ext>
              </a:extLst>
            </p:cNvPr>
            <p:cNvGrpSpPr/>
            <p:nvPr/>
          </p:nvGrpSpPr>
          <p:grpSpPr>
            <a:xfrm>
              <a:off x="-6667278" y="1308961"/>
              <a:ext cx="3918305" cy="3017739"/>
              <a:chOff x="1558925" y="873125"/>
              <a:chExt cx="3918305" cy="3017739"/>
            </a:xfrm>
          </p:grpSpPr>
          <p:sp>
            <p:nvSpPr>
              <p:cNvPr id="1231" name="사각형: 둥근 위쪽 모서리 1230">
                <a:extLst>
                  <a:ext uri="{FF2B5EF4-FFF2-40B4-BE49-F238E27FC236}">
                    <a16:creationId xmlns:a16="http://schemas.microsoft.com/office/drawing/2014/main" id="{CF20E601-3808-F49E-ABA7-1B3BACEC711F}"/>
                  </a:ext>
                </a:extLst>
              </p:cNvPr>
              <p:cNvSpPr/>
              <p:nvPr/>
            </p:nvSpPr>
            <p:spPr>
              <a:xfrm>
                <a:off x="1563145" y="873125"/>
                <a:ext cx="3914084" cy="275459"/>
              </a:xfrm>
              <a:prstGeom prst="round2Same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5</a:t>
                </a:r>
                <a:r>
                  <a:rPr lang="ko-KR" altLang="en-US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대 핵심역량</a:t>
                </a:r>
              </a:p>
            </p:txBody>
          </p:sp>
          <p:sp>
            <p:nvSpPr>
              <p:cNvPr id="1232" name="직사각형 1231">
                <a:extLst>
                  <a:ext uri="{FF2B5EF4-FFF2-40B4-BE49-F238E27FC236}">
                    <a16:creationId xmlns:a16="http://schemas.microsoft.com/office/drawing/2014/main" id="{D0D5F42C-C33E-BCE5-41D4-87DA2218B8C2}"/>
                  </a:ext>
                </a:extLst>
              </p:cNvPr>
              <p:cNvSpPr/>
              <p:nvPr/>
            </p:nvSpPr>
            <p:spPr>
              <a:xfrm>
                <a:off x="1558925" y="1148584"/>
                <a:ext cx="3918305" cy="27422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</p:grpSp>
        <p:pic>
          <p:nvPicPr>
            <p:cNvPr id="1194" name="그림 1193">
              <a:extLst>
                <a:ext uri="{FF2B5EF4-FFF2-40B4-BE49-F238E27FC236}">
                  <a16:creationId xmlns:a16="http://schemas.microsoft.com/office/drawing/2014/main" id="{AAAB175C-E790-C124-C05F-33272C8FD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6522210" y="1658893"/>
              <a:ext cx="3628168" cy="2544756"/>
            </a:xfrm>
            <a:prstGeom prst="rect">
              <a:avLst/>
            </a:prstGeom>
          </p:spPr>
        </p:pic>
        <p:grpSp>
          <p:nvGrpSpPr>
            <p:cNvPr id="1195" name="그룹 1194">
              <a:extLst>
                <a:ext uri="{FF2B5EF4-FFF2-40B4-BE49-F238E27FC236}">
                  <a16:creationId xmlns:a16="http://schemas.microsoft.com/office/drawing/2014/main" id="{CB74DF2A-01F9-4C21-1363-6D4AD78FD60E}"/>
                </a:ext>
              </a:extLst>
            </p:cNvPr>
            <p:cNvGrpSpPr/>
            <p:nvPr/>
          </p:nvGrpSpPr>
          <p:grpSpPr>
            <a:xfrm>
              <a:off x="-2623069" y="1308961"/>
              <a:ext cx="3914086" cy="3017740"/>
              <a:chOff x="5603134" y="873125"/>
              <a:chExt cx="3914086" cy="3017740"/>
            </a:xfrm>
          </p:grpSpPr>
          <p:sp>
            <p:nvSpPr>
              <p:cNvPr id="1229" name="사각형: 둥근 위쪽 모서리 1228">
                <a:extLst>
                  <a:ext uri="{FF2B5EF4-FFF2-40B4-BE49-F238E27FC236}">
                    <a16:creationId xmlns:a16="http://schemas.microsoft.com/office/drawing/2014/main" id="{0E4ED78D-17A9-5EB3-8B5A-F45F17CFA269}"/>
                  </a:ext>
                </a:extLst>
              </p:cNvPr>
              <p:cNvSpPr/>
              <p:nvPr/>
            </p:nvSpPr>
            <p:spPr>
              <a:xfrm>
                <a:off x="5603135" y="873125"/>
                <a:ext cx="3914084" cy="284111"/>
              </a:xfrm>
              <a:prstGeom prst="round2Same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역량 진단 결과</a:t>
                </a:r>
              </a:p>
            </p:txBody>
          </p:sp>
          <p:sp>
            <p:nvSpPr>
              <p:cNvPr id="1230" name="직사각형 1229">
                <a:extLst>
                  <a:ext uri="{FF2B5EF4-FFF2-40B4-BE49-F238E27FC236}">
                    <a16:creationId xmlns:a16="http://schemas.microsoft.com/office/drawing/2014/main" id="{3BDC5641-B41A-FE5E-9E03-5D49C2F6D655}"/>
                  </a:ext>
                </a:extLst>
              </p:cNvPr>
              <p:cNvSpPr/>
              <p:nvPr/>
            </p:nvSpPr>
            <p:spPr>
              <a:xfrm>
                <a:off x="5603134" y="1148585"/>
                <a:ext cx="3914086" cy="274228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</p:grpSp>
        <p:sp>
          <p:nvSpPr>
            <p:cNvPr id="1207" name="TextBox 1206">
              <a:extLst>
                <a:ext uri="{FF2B5EF4-FFF2-40B4-BE49-F238E27FC236}">
                  <a16:creationId xmlns:a16="http://schemas.microsoft.com/office/drawing/2014/main" id="{E62F2DE0-88E9-D517-1EA5-53AD7AE942D6}"/>
                </a:ext>
              </a:extLst>
            </p:cNvPr>
            <p:cNvSpPr txBox="1"/>
            <p:nvPr/>
          </p:nvSpPr>
          <p:spPr>
            <a:xfrm>
              <a:off x="-2604084" y="1675353"/>
              <a:ext cx="65511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>
                  <a:latin typeface="나눔고딕" pitchFamily="2" charset="-127"/>
                  <a:ea typeface="나눔고딕" pitchFamily="2" charset="-127"/>
                </a:rPr>
                <a:t>강점역량</a:t>
              </a:r>
              <a:endParaRPr lang="ko-KR" altLang="en-US" sz="9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1208" name="TextBox 1207">
              <a:extLst>
                <a:ext uri="{FF2B5EF4-FFF2-40B4-BE49-F238E27FC236}">
                  <a16:creationId xmlns:a16="http://schemas.microsoft.com/office/drawing/2014/main" id="{AEF1BDF9-86B0-82BD-2FE8-6AF347D2E8F9}"/>
                </a:ext>
              </a:extLst>
            </p:cNvPr>
            <p:cNvSpPr txBox="1"/>
            <p:nvPr/>
          </p:nvSpPr>
          <p:spPr>
            <a:xfrm>
              <a:off x="-2604084" y="1958263"/>
              <a:ext cx="63693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약점역량</a:t>
              </a:r>
            </a:p>
          </p:txBody>
        </p:sp>
        <p:sp>
          <p:nvSpPr>
            <p:cNvPr id="1209" name="직사각형 1208">
              <a:extLst>
                <a:ext uri="{FF2B5EF4-FFF2-40B4-BE49-F238E27FC236}">
                  <a16:creationId xmlns:a16="http://schemas.microsoft.com/office/drawing/2014/main" id="{02471C8D-7945-4FE8-AB83-B6C1D7C23308}"/>
                </a:ext>
              </a:extLst>
            </p:cNvPr>
            <p:cNvSpPr/>
            <p:nvPr/>
          </p:nvSpPr>
          <p:spPr>
            <a:xfrm>
              <a:off x="-1970994" y="1678358"/>
              <a:ext cx="85654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교육과정 설계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0" name="직사각형 1209">
              <a:extLst>
                <a:ext uri="{FF2B5EF4-FFF2-40B4-BE49-F238E27FC236}">
                  <a16:creationId xmlns:a16="http://schemas.microsoft.com/office/drawing/2014/main" id="{952E5996-12D3-023B-8799-503F6BA0E9FA}"/>
                </a:ext>
              </a:extLst>
            </p:cNvPr>
            <p:cNvSpPr/>
            <p:nvPr/>
          </p:nvSpPr>
          <p:spPr>
            <a:xfrm>
              <a:off x="-1064019" y="1678358"/>
              <a:ext cx="650039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생활교육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1" name="직사각형 1210">
              <a:extLst>
                <a:ext uri="{FF2B5EF4-FFF2-40B4-BE49-F238E27FC236}">
                  <a16:creationId xmlns:a16="http://schemas.microsoft.com/office/drawing/2014/main" id="{717ABCEA-9587-D645-A03F-2ECA59B6BA56}"/>
                </a:ext>
              </a:extLst>
            </p:cNvPr>
            <p:cNvSpPr/>
            <p:nvPr/>
          </p:nvSpPr>
          <p:spPr>
            <a:xfrm>
              <a:off x="-372796" y="1678358"/>
              <a:ext cx="953179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변화관리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디지털</a:t>
              </a:r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2" name="직사각형 1211">
              <a:extLst>
                <a:ext uri="{FF2B5EF4-FFF2-40B4-BE49-F238E27FC236}">
                  <a16:creationId xmlns:a16="http://schemas.microsoft.com/office/drawing/2014/main" id="{6E8FD086-4626-43D1-50CA-AA3718865042}"/>
                </a:ext>
              </a:extLst>
            </p:cNvPr>
            <p:cNvSpPr/>
            <p:nvPr/>
          </p:nvSpPr>
          <p:spPr>
            <a:xfrm>
              <a:off x="-1970995" y="1959629"/>
              <a:ext cx="105641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수업운영 및  평가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3" name="직사각형 1212">
              <a:extLst>
                <a:ext uri="{FF2B5EF4-FFF2-40B4-BE49-F238E27FC236}">
                  <a16:creationId xmlns:a16="http://schemas.microsoft.com/office/drawing/2014/main" id="{0075979D-37B8-155E-A78B-9AF6DC9EE496}"/>
                </a:ext>
              </a:extLst>
            </p:cNvPr>
            <p:cNvSpPr/>
            <p:nvPr/>
          </p:nvSpPr>
          <p:spPr>
            <a:xfrm>
              <a:off x="-850519" y="1959629"/>
              <a:ext cx="826386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/>
                  </a:solidFill>
                  <a:latin typeface="+mn-ea"/>
                </a:rPr>
                <a:t>소통 및 협력</a:t>
              </a:r>
              <a:endParaRPr lang="ko-KR" altLang="en-US" sz="11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14" name="TextBox 1213">
              <a:extLst>
                <a:ext uri="{FF2B5EF4-FFF2-40B4-BE49-F238E27FC236}">
                  <a16:creationId xmlns:a16="http://schemas.microsoft.com/office/drawing/2014/main" id="{708C7BA8-68C6-633B-37A9-C8E45AA30E03}"/>
                </a:ext>
              </a:extLst>
            </p:cNvPr>
            <p:cNvSpPr txBox="1"/>
            <p:nvPr/>
          </p:nvSpPr>
          <p:spPr>
            <a:xfrm>
              <a:off x="-2604084" y="3582716"/>
              <a:ext cx="129142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나눔고딕" pitchFamily="2" charset="-127"/>
                  <a:ea typeface="나눔고딕" pitchFamily="2" charset="-127"/>
                </a:rPr>
                <a:t>진단 결과</a:t>
              </a:r>
            </a:p>
          </p:txBody>
        </p:sp>
        <p:sp>
          <p:nvSpPr>
            <p:cNvPr id="1215" name="TextBox 1214">
              <a:extLst>
                <a:ext uri="{FF2B5EF4-FFF2-40B4-BE49-F238E27FC236}">
                  <a16:creationId xmlns:a16="http://schemas.microsoft.com/office/drawing/2014/main" id="{D08A95C0-A20D-B514-E0C2-9ADACF4B8EAE}"/>
                </a:ext>
              </a:extLst>
            </p:cNvPr>
            <p:cNvSpPr txBox="1"/>
            <p:nvPr/>
          </p:nvSpPr>
          <p:spPr>
            <a:xfrm>
              <a:off x="-2604083" y="3787910"/>
              <a:ext cx="3914084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변화에 능동적이고 교육에 대한 역할과 업무에 집중하여 성과를 내고 있습니다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 </a:t>
              </a:r>
            </a:p>
            <a:p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구성원과 조직 전반의 소통과 운영 향상에 집중해보세요</a:t>
              </a:r>
              <a:r>
                <a:rPr lang="en-US" altLang="ko-KR" sz="900" dirty="0">
                  <a:latin typeface="나눔고딕" pitchFamily="2" charset="-127"/>
                  <a:ea typeface="나눔고딕" pitchFamily="2" charset="-127"/>
                </a:rPr>
                <a:t>.</a:t>
              </a:r>
              <a:r>
                <a:rPr lang="ko-KR" altLang="en-US" sz="900" dirty="0">
                  <a:latin typeface="나눔고딕" pitchFamily="2" charset="-127"/>
                  <a:ea typeface="나눔고딕" pitchFamily="2" charset="-127"/>
                </a:rPr>
                <a:t> </a:t>
              </a:r>
            </a:p>
          </p:txBody>
        </p:sp>
      </p:grpSp>
      <p:graphicFrame>
        <p:nvGraphicFramePr>
          <p:cNvPr id="1233" name="표 1232">
            <a:extLst>
              <a:ext uri="{FF2B5EF4-FFF2-40B4-BE49-F238E27FC236}">
                <a16:creationId xmlns:a16="http://schemas.microsoft.com/office/drawing/2014/main" id="{0BECCB11-73AB-FE73-AC9D-04C03C8B962F}"/>
              </a:ext>
            </a:extLst>
          </p:cNvPr>
          <p:cNvGraphicFramePr>
            <a:graphicFrameLocks noGrp="1"/>
          </p:cNvGraphicFramePr>
          <p:nvPr/>
        </p:nvGraphicFramePr>
        <p:xfrm>
          <a:off x="5711853" y="2433992"/>
          <a:ext cx="3676070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61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234" name="직사각형 1233">
            <a:extLst>
              <a:ext uri="{FF2B5EF4-FFF2-40B4-BE49-F238E27FC236}">
                <a16:creationId xmlns:a16="http://schemas.microsoft.com/office/drawing/2014/main" id="{05B3E664-CAEA-05C3-C1BA-0714CED66CAE}"/>
              </a:ext>
            </a:extLst>
          </p:cNvPr>
          <p:cNvSpPr/>
          <p:nvPr/>
        </p:nvSpPr>
        <p:spPr>
          <a:xfrm>
            <a:off x="1583159" y="1455145"/>
            <a:ext cx="7901969" cy="3106134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진단 결과 차트</a:t>
            </a:r>
            <a:r>
              <a:rPr lang="en-US" altLang="ko-KR" sz="2400" dirty="0">
                <a:solidFill>
                  <a:srgbClr val="FF0000"/>
                </a:solidFill>
                <a:latin typeface="나눔고딕" pitchFamily="2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도표 화면을 출력</a:t>
            </a:r>
          </a:p>
        </p:txBody>
      </p:sp>
      <p:sp>
        <p:nvSpPr>
          <p:cNvPr id="1235" name="타원 1234">
            <a:extLst>
              <a:ext uri="{FF2B5EF4-FFF2-40B4-BE49-F238E27FC236}">
                <a16:creationId xmlns:a16="http://schemas.microsoft.com/office/drawing/2014/main" id="{FF928517-1F03-39A1-DB11-5B6BB071774F}"/>
              </a:ext>
            </a:extLst>
          </p:cNvPr>
          <p:cNvSpPr/>
          <p:nvPr/>
        </p:nvSpPr>
        <p:spPr>
          <a:xfrm>
            <a:off x="1499670" y="13860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6" name="타원 1235">
            <a:extLst>
              <a:ext uri="{FF2B5EF4-FFF2-40B4-BE49-F238E27FC236}">
                <a16:creationId xmlns:a16="http://schemas.microsoft.com/office/drawing/2014/main" id="{3EBD1EB5-22D6-6516-9A41-D0438C2065EA}"/>
              </a:ext>
            </a:extLst>
          </p:cNvPr>
          <p:cNvSpPr/>
          <p:nvPr/>
        </p:nvSpPr>
        <p:spPr>
          <a:xfrm>
            <a:off x="1546726" y="5594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9D53A8F2-253E-F961-45D8-47F4CF2C6497}"/>
              </a:ext>
            </a:extLst>
          </p:cNvPr>
          <p:cNvSpPr/>
          <p:nvPr/>
        </p:nvSpPr>
        <p:spPr>
          <a:xfrm>
            <a:off x="5048136" y="4746538"/>
            <a:ext cx="958668" cy="343676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닫기</a:t>
            </a:r>
            <a:endParaRPr lang="en-US" sz="9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142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2C67453-32C4-9DFA-2557-4EFC68068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964A6E1-FD00-A28D-AB96-24EAFD59EE7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9055F79-7648-1339-3139-6E147015FA8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75FFC7A-8541-D39B-9C02-1693BA219CC5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218312D9-964E-BB75-ED4D-67BE74E877B1}"/>
              </a:ext>
            </a:extLst>
          </p:cNvPr>
          <p:cNvGraphicFramePr/>
          <p:nvPr/>
        </p:nvGraphicFramePr>
        <p:xfrm>
          <a:off x="9655174" y="276226"/>
          <a:ext cx="2532687" cy="9704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보고서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진단결과 화면 콘텐츠 영역 차트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도포 내용을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25236B-813A-AE5B-F260-09607332F4E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A1B7BD-DEB4-99B2-6F68-1255425AB22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6A0B1-363A-012F-051E-C475C8631812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보고서 팝업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0A4B9A-00C8-5BE7-1D96-6E8374EB1DC7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grpSp>
        <p:nvGrpSpPr>
          <p:cNvPr id="1075" name="그룹 1074">
            <a:extLst>
              <a:ext uri="{FF2B5EF4-FFF2-40B4-BE49-F238E27FC236}">
                <a16:creationId xmlns:a16="http://schemas.microsoft.com/office/drawing/2014/main" id="{7521E568-DAF2-BA16-9A2D-EF05D2211C18}"/>
              </a:ext>
            </a:extLst>
          </p:cNvPr>
          <p:cNvGrpSpPr/>
          <p:nvPr/>
        </p:nvGrpSpPr>
        <p:grpSpPr>
          <a:xfrm>
            <a:off x="1487486" y="399833"/>
            <a:ext cx="8026578" cy="5922173"/>
            <a:chOff x="1487486" y="399833"/>
            <a:chExt cx="8026578" cy="592217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0D5DE6F-B54D-2CF7-75FD-070B6D8294D8}"/>
                </a:ext>
              </a:extLst>
            </p:cNvPr>
            <p:cNvSpPr txBox="1"/>
            <p:nvPr/>
          </p:nvSpPr>
          <p:spPr>
            <a:xfrm>
              <a:off x="1487486" y="3770456"/>
              <a:ext cx="11781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역량진단</a:t>
              </a:r>
              <a:r>
                <a:rPr lang="en-US" altLang="ko-KR" sz="1200" b="1" dirty="0">
                  <a:latin typeface="나눔고딕" pitchFamily="2" charset="-127"/>
                  <a:ea typeface="나눔고딕" pitchFamily="2" charset="-127"/>
                </a:rPr>
                <a:t> </a:t>
              </a:r>
              <a:r>
                <a:rPr lang="ko-KR" altLang="en-US" sz="1200" b="1" dirty="0">
                  <a:latin typeface="나눔고딕" pitchFamily="2" charset="-127"/>
                  <a:ea typeface="나눔고딕" pitchFamily="2" charset="-127"/>
                </a:rPr>
                <a:t>이력</a:t>
              </a:r>
              <a:endParaRPr lang="en-US" altLang="ko-KR" sz="1200" b="1" dirty="0">
                <a:latin typeface="나눔고딕" pitchFamily="2" charset="-127"/>
                <a:ea typeface="나눔고딕" pitchFamily="2" charset="-127"/>
              </a:endParaRPr>
            </a:p>
          </p:txBody>
        </p:sp>
        <p:sp>
          <p:nvSpPr>
            <p:cNvPr id="3" name="TextBox 107">
              <a:extLst>
                <a:ext uri="{FF2B5EF4-FFF2-40B4-BE49-F238E27FC236}">
                  <a16:creationId xmlns:a16="http://schemas.microsoft.com/office/drawing/2014/main" id="{FB321CFE-AC9F-7A87-A323-488A59FD8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7487" y="4055086"/>
              <a:ext cx="4503115" cy="5226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선생님께서는 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총 </a:t>
              </a:r>
              <a:r>
                <a:rPr lang="en-US" altLang="ko-KR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2</a:t>
              </a:r>
              <a:r>
                <a:rPr lang="ko-KR" altLang="en-US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회 진단</a:t>
              </a:r>
              <a:r>
                <a:rPr lang="ko-KR" altLang="en-US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을 하셨습니다</a:t>
              </a:r>
              <a:r>
                <a:rPr lang="en-US" altLang="ko-KR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</a:p>
            <a:p>
              <a:pPr eaLnBrk="1" latinLnBrk="1" hangingPunct="1">
                <a:lnSpc>
                  <a:spcPct val="150000"/>
                </a:lnSpc>
                <a:defRPr/>
              </a:pP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진단결과는 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‘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결과보기</a:t>
              </a:r>
              <a:r>
                <a:rPr lang="en-US" altLang="ko-KR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’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를 클릭하시면 진단결과를 확인하실 수 있습니다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.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sp>
          <p:nvSpPr>
            <p:cNvPr id="9" name="Button">
              <a:extLst>
                <a:ext uri="{FF2B5EF4-FFF2-40B4-BE49-F238E27FC236}">
                  <a16:creationId xmlns:a16="http://schemas.microsoft.com/office/drawing/2014/main" id="{A030F55C-4A27-3AA2-0E48-9DB6BE5CC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6893" y="5352250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7F7F7"/>
            </a:solidFill>
            <a:ln w="635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effectLst/>
                <a:latin typeface="Calibri"/>
              </a:endParaRPr>
            </a:p>
          </p:txBody>
        </p:sp>
        <p:sp>
          <p:nvSpPr>
            <p:cNvPr id="11" name="Button">
              <a:extLst>
                <a:ext uri="{FF2B5EF4-FFF2-40B4-BE49-F238E27FC236}">
                  <a16:creationId xmlns:a16="http://schemas.microsoft.com/office/drawing/2014/main" id="{B103A0EA-A4CF-399C-C92F-9965C732D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571742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sp>
          <p:nvSpPr>
            <p:cNvPr id="12" name="Button">
              <a:extLst>
                <a:ext uri="{FF2B5EF4-FFF2-40B4-BE49-F238E27FC236}">
                  <a16:creationId xmlns:a16="http://schemas.microsoft.com/office/drawing/2014/main" id="{BA187755-494F-16C1-CE2E-D7422466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2794" y="6070006"/>
              <a:ext cx="1187145" cy="252000"/>
            </a:xfrm>
            <a:prstGeom prst="roundRect">
              <a:avLst>
                <a:gd name="adj" fmla="val 8776"/>
              </a:avLst>
            </a:prstGeom>
            <a:solidFill>
              <a:srgbClr val="F2F2F2"/>
            </a:solidFill>
            <a:ln w="6350" cap="flat" cmpd="sng" algn="ctr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262626"/>
                  </a:solidFill>
                  <a:latin typeface="Calibri"/>
                </a:rPr>
                <a:t>결과보기</a:t>
              </a:r>
              <a:endParaRPr lang="en-US" sz="800" dirty="0">
                <a:solidFill>
                  <a:srgbClr val="262626"/>
                </a:solidFill>
                <a:effectLst/>
                <a:latin typeface="Calibri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AF7923FF-0557-B25C-1A3D-F69C9A80B779}"/>
                </a:ext>
              </a:extLst>
            </p:cNvPr>
            <p:cNvGrpSpPr/>
            <p:nvPr/>
          </p:nvGrpSpPr>
          <p:grpSpPr>
            <a:xfrm>
              <a:off x="1555925" y="399833"/>
              <a:ext cx="7958139" cy="2912005"/>
              <a:chOff x="1555925" y="446723"/>
              <a:chExt cx="7958139" cy="2912005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92B18836-95A8-C473-CEAD-5A91F51FA7FE}"/>
                  </a:ext>
                </a:extLst>
              </p:cNvPr>
              <p:cNvSpPr/>
              <p:nvPr/>
            </p:nvSpPr>
            <p:spPr>
              <a:xfrm>
                <a:off x="1555925" y="446723"/>
                <a:ext cx="7958139" cy="29120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고딕" pitchFamily="2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42EACC83-E817-FA6B-12C2-425CBDEF906B}"/>
                  </a:ext>
                </a:extLst>
              </p:cNvPr>
              <p:cNvSpPr/>
              <p:nvPr/>
            </p:nvSpPr>
            <p:spPr>
              <a:xfrm>
                <a:off x="4028457" y="90950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5F242A7-A241-1C4D-B66B-153F370634F8}"/>
                  </a:ext>
                </a:extLst>
              </p:cNvPr>
              <p:cNvSpPr/>
              <p:nvPr/>
            </p:nvSpPr>
            <p:spPr>
              <a:xfrm>
                <a:off x="4028457" y="1296456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A210867-C7C0-04F2-A73D-516DB1AB416B}"/>
                  </a:ext>
                </a:extLst>
              </p:cNvPr>
              <p:cNvSpPr/>
              <p:nvPr/>
            </p:nvSpPr>
            <p:spPr>
              <a:xfrm>
                <a:off x="4028457" y="1689599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39CD049B-AA4F-606A-9C40-1BDB763F4917}"/>
                  </a:ext>
                </a:extLst>
              </p:cNvPr>
              <p:cNvSpPr/>
              <p:nvPr/>
            </p:nvSpPr>
            <p:spPr>
              <a:xfrm>
                <a:off x="4028457" y="2084784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9880F32-47D7-32AF-7189-CC75C2F77421}"/>
                  </a:ext>
                </a:extLst>
              </p:cNvPr>
              <p:cNvSpPr/>
              <p:nvPr/>
            </p:nvSpPr>
            <p:spPr>
              <a:xfrm>
                <a:off x="4028457" y="2479035"/>
                <a:ext cx="541558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9811726-6ABB-07DF-9088-01E9CCDED8F5}"/>
                  </a:ext>
                </a:extLst>
              </p:cNvPr>
              <p:cNvSpPr/>
              <p:nvPr/>
            </p:nvSpPr>
            <p:spPr>
              <a:xfrm>
                <a:off x="4024318" y="2869841"/>
                <a:ext cx="541562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9E225017-292C-BE82-59E8-AEC613420FE1}"/>
                  </a:ext>
                </a:extLst>
              </p:cNvPr>
              <p:cNvSpPr/>
              <p:nvPr/>
            </p:nvSpPr>
            <p:spPr>
              <a:xfrm>
                <a:off x="3957802" y="1027010"/>
                <a:ext cx="3424820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74</a:t>
                </a:r>
                <a:endParaRPr lang="ko-KR" altLang="en-US" sz="900" dirty="0"/>
              </a:p>
            </p:txBody>
          </p:sp>
          <p:sp>
            <p:nvSpPr>
              <p:cNvPr id="51" name="사각형: 둥근 모서리 50">
                <a:extLst>
                  <a:ext uri="{FF2B5EF4-FFF2-40B4-BE49-F238E27FC236}">
                    <a16:creationId xmlns:a16="http://schemas.microsoft.com/office/drawing/2014/main" id="{A5DCCDBD-6751-C1CD-D1D5-9FF63FCE28BE}"/>
                  </a:ext>
                </a:extLst>
              </p:cNvPr>
              <p:cNvSpPr/>
              <p:nvPr/>
            </p:nvSpPr>
            <p:spPr>
              <a:xfrm>
                <a:off x="3965174" y="1413957"/>
                <a:ext cx="304522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66</a:t>
                </a:r>
                <a:endParaRPr lang="ko-KR" altLang="en-US" sz="900" dirty="0"/>
              </a:p>
            </p:txBody>
          </p:sp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6BE955F0-4F66-CBB7-F793-845A9A2C72D8}"/>
                  </a:ext>
                </a:extLst>
              </p:cNvPr>
              <p:cNvSpPr/>
              <p:nvPr/>
            </p:nvSpPr>
            <p:spPr>
              <a:xfrm>
                <a:off x="3961249" y="1814108"/>
                <a:ext cx="3247271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70</a:t>
                </a:r>
                <a:endParaRPr lang="ko-KR" altLang="en-US" sz="900" dirty="0"/>
              </a:p>
            </p:txBody>
          </p:sp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C28CCE6A-71EF-F0E5-5F24-2C90D4AFC76C}"/>
                  </a:ext>
                </a:extLst>
              </p:cNvPr>
              <p:cNvSpPr/>
              <p:nvPr/>
            </p:nvSpPr>
            <p:spPr>
              <a:xfrm>
                <a:off x="3953580" y="2208117"/>
                <a:ext cx="3642134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77</a:t>
                </a:r>
                <a:endParaRPr lang="ko-KR" altLang="en-US" sz="900" dirty="0"/>
              </a:p>
            </p:txBody>
          </p:sp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E10E7EC-13F3-8F99-0BE8-5F30A73997C4}"/>
                  </a:ext>
                </a:extLst>
              </p:cNvPr>
              <p:cNvSpPr/>
              <p:nvPr/>
            </p:nvSpPr>
            <p:spPr>
              <a:xfrm>
                <a:off x="3959609" y="2587954"/>
                <a:ext cx="3542763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75</a:t>
                </a:r>
                <a:endParaRPr lang="ko-KR" altLang="en-US" sz="900" dirty="0"/>
              </a:p>
            </p:txBody>
          </p:sp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5FA99016-A882-DF83-1B2D-FA33FD78D137}"/>
                  </a:ext>
                </a:extLst>
              </p:cNvPr>
              <p:cNvSpPr/>
              <p:nvPr/>
            </p:nvSpPr>
            <p:spPr>
              <a:xfrm>
                <a:off x="3951243" y="2981963"/>
                <a:ext cx="397355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82</a:t>
                </a:r>
                <a:endParaRPr lang="ko-KR" altLang="en-US" sz="900" dirty="0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96A9B12A-7BA5-D84C-6716-776152B10EAE}"/>
                  </a:ext>
                </a:extLst>
              </p:cNvPr>
              <p:cNvSpPr/>
              <p:nvPr/>
            </p:nvSpPr>
            <p:spPr>
              <a:xfrm>
                <a:off x="4036540" y="519167"/>
                <a:ext cx="5407498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7" name="사각형: 둥근 모서리 56">
                <a:extLst>
                  <a:ext uri="{FF2B5EF4-FFF2-40B4-BE49-F238E27FC236}">
                    <a16:creationId xmlns:a16="http://schemas.microsoft.com/office/drawing/2014/main" id="{4FCC50E1-70A6-08AA-8734-534E18AFDB6E}"/>
                  </a:ext>
                </a:extLst>
              </p:cNvPr>
              <p:cNvSpPr/>
              <p:nvPr/>
            </p:nvSpPr>
            <p:spPr>
              <a:xfrm>
                <a:off x="3966514" y="636485"/>
                <a:ext cx="3771229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71</a:t>
                </a:r>
                <a:endParaRPr lang="ko-KR" altLang="en-US" sz="900" dirty="0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F0C6843-EFF9-EBC4-441F-BBB57E80FCD8}"/>
                  </a:ext>
                </a:extLst>
              </p:cNvPr>
              <p:cNvSpPr/>
              <p:nvPr/>
            </p:nvSpPr>
            <p:spPr>
              <a:xfrm>
                <a:off x="1631950" y="909508"/>
                <a:ext cx="1037748" cy="7821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공동체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DE81779-7A32-1AD5-5F4D-53AFD700F632}"/>
                  </a:ext>
                </a:extLst>
              </p:cNvPr>
              <p:cNvSpPr/>
              <p:nvPr/>
            </p:nvSpPr>
            <p:spPr>
              <a:xfrm>
                <a:off x="2669697" y="90950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5.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학급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/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학교 경영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91613525-8D1C-A75D-2BCD-6F54330DDDE1}"/>
                  </a:ext>
                </a:extLst>
              </p:cNvPr>
              <p:cNvSpPr/>
              <p:nvPr/>
            </p:nvSpPr>
            <p:spPr>
              <a:xfrm>
                <a:off x="2669697" y="1296456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6.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소통 및 협력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F7F29261-3A81-307B-49B1-183DEE0D9461}"/>
                  </a:ext>
                </a:extLst>
              </p:cNvPr>
              <p:cNvSpPr/>
              <p:nvPr/>
            </p:nvSpPr>
            <p:spPr>
              <a:xfrm>
                <a:off x="2669697" y="1689599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7.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교육생태계 활용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47AED0D-EDD6-7670-6D54-BD80A0783E1D}"/>
                  </a:ext>
                </a:extLst>
              </p:cNvPr>
              <p:cNvSpPr/>
              <p:nvPr/>
            </p:nvSpPr>
            <p:spPr>
              <a:xfrm>
                <a:off x="2669697" y="2084784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8.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변화대응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디지털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E7E5C936-06A7-8649-C016-A12A054E4F56}"/>
                  </a:ext>
                </a:extLst>
              </p:cNvPr>
              <p:cNvSpPr/>
              <p:nvPr/>
            </p:nvSpPr>
            <p:spPr>
              <a:xfrm>
                <a:off x="2669697" y="2479035"/>
                <a:ext cx="136684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9.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전문성개발</a:t>
                </a: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6C83B59E-6AEC-1790-364F-B34C8CA45B92}"/>
                  </a:ext>
                </a:extLst>
              </p:cNvPr>
              <p:cNvSpPr/>
              <p:nvPr/>
            </p:nvSpPr>
            <p:spPr>
              <a:xfrm>
                <a:off x="2665598" y="2869841"/>
                <a:ext cx="1375595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10.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자기관리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CD8D75D7-175E-9276-4260-5D6B326B6056}"/>
                  </a:ext>
                </a:extLst>
              </p:cNvPr>
              <p:cNvSpPr/>
              <p:nvPr/>
            </p:nvSpPr>
            <p:spPr>
              <a:xfrm>
                <a:off x="1631950" y="1688534"/>
                <a:ext cx="1037748" cy="79050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문제 해결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8E903D2D-C2E2-C464-63CE-259DE30DB24E}"/>
                  </a:ext>
                </a:extLst>
              </p:cNvPr>
              <p:cNvSpPr/>
              <p:nvPr/>
            </p:nvSpPr>
            <p:spPr>
              <a:xfrm>
                <a:off x="1631950" y="521290"/>
                <a:ext cx="1037748" cy="3886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6F9EA216-A4E3-A854-AA8F-C9809102834B}"/>
                  </a:ext>
                </a:extLst>
              </p:cNvPr>
              <p:cNvSpPr/>
              <p:nvPr/>
            </p:nvSpPr>
            <p:spPr>
              <a:xfrm>
                <a:off x="2669697" y="519167"/>
                <a:ext cx="1366844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4.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진로교육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3C45E3D5-4F0D-14AC-39DF-292916EEEC12}"/>
                  </a:ext>
                </a:extLst>
              </p:cNvPr>
              <p:cNvSpPr/>
              <p:nvPr/>
            </p:nvSpPr>
            <p:spPr>
              <a:xfrm>
                <a:off x="1631950" y="2474655"/>
                <a:ext cx="1037748" cy="7859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자기개발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0AE1CA27-42E5-9DC1-BFFC-0F551C93CD08}"/>
                </a:ext>
              </a:extLst>
            </p:cNvPr>
            <p:cNvGrpSpPr/>
            <p:nvPr/>
          </p:nvGrpSpPr>
          <p:grpSpPr>
            <a:xfrm>
              <a:off x="5499934" y="4646167"/>
              <a:ext cx="4012068" cy="226043"/>
              <a:chOff x="-1867458" y="928991"/>
              <a:chExt cx="4012068" cy="226043"/>
            </a:xfrm>
          </p:grpSpPr>
          <p:sp>
            <p:nvSpPr>
              <p:cNvPr id="102" name="Input">
                <a:extLst>
                  <a:ext uri="{FF2B5EF4-FFF2-40B4-BE49-F238E27FC236}">
                    <a16:creationId xmlns:a16="http://schemas.microsoft.com/office/drawing/2014/main" id="{9FF4CC32-8741-02B8-4E79-07A27DDBC1B6}"/>
                  </a:ext>
                </a:extLst>
              </p:cNvPr>
              <p:cNvSpPr/>
              <p:nvPr/>
            </p:nvSpPr>
            <p:spPr>
              <a:xfrm>
                <a:off x="-1867458" y="928991"/>
                <a:ext cx="3472616" cy="224895"/>
              </a:xfrm>
              <a:prstGeom prst="roundRect">
                <a:avLst>
                  <a:gd name="adj" fmla="val 0"/>
                </a:avLst>
              </a:prstGeom>
              <a:solidFill>
                <a:srgbClr val="FFFFFF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50400" rIns="90000" bIns="504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Input">
                <a:extLst>
                  <a:ext uri="{FF2B5EF4-FFF2-40B4-BE49-F238E27FC236}">
                    <a16:creationId xmlns:a16="http://schemas.microsoft.com/office/drawing/2014/main" id="{A1861AC6-BD73-1DBA-DD71-D28E3F4AB44B}"/>
                  </a:ext>
                </a:extLst>
              </p:cNvPr>
              <p:cNvSpPr/>
              <p:nvPr/>
            </p:nvSpPr>
            <p:spPr>
              <a:xfrm>
                <a:off x="1676610" y="928991"/>
                <a:ext cx="468000" cy="226043"/>
              </a:xfrm>
              <a:prstGeom prst="roundRect">
                <a:avLst>
                  <a:gd name="adj" fmla="val 7932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검색</a:t>
                </a:r>
                <a:endPara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A9C0EF9D-4498-B60C-F1FF-64B6682757FF}"/>
                </a:ext>
              </a:extLst>
            </p:cNvPr>
            <p:cNvGrpSpPr/>
            <p:nvPr/>
          </p:nvGrpSpPr>
          <p:grpSpPr>
            <a:xfrm>
              <a:off x="1567257" y="4623280"/>
              <a:ext cx="3226222" cy="254966"/>
              <a:chOff x="3398172" y="906104"/>
              <a:chExt cx="3226222" cy="254966"/>
            </a:xfrm>
          </p:grpSpPr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20A1F4C-0D69-E1BD-53DF-7F212AB33924}"/>
                  </a:ext>
                </a:extLst>
              </p:cNvPr>
              <p:cNvGrpSpPr/>
              <p:nvPr/>
            </p:nvGrpSpPr>
            <p:grpSpPr>
              <a:xfrm>
                <a:off x="3398172" y="906104"/>
                <a:ext cx="2234383" cy="254966"/>
                <a:chOff x="3537305" y="894901"/>
                <a:chExt cx="2234383" cy="254966"/>
              </a:xfrm>
            </p:grpSpPr>
            <p:sp>
              <p:nvSpPr>
                <p:cNvPr id="1060" name="TextBox 107">
                  <a:extLst>
                    <a:ext uri="{FF2B5EF4-FFF2-40B4-BE49-F238E27FC236}">
                      <a16:creationId xmlns:a16="http://schemas.microsoft.com/office/drawing/2014/main" id="{FFF35AFB-5EC6-5077-144B-DC81E03599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7305" y="929299"/>
                  <a:ext cx="306187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ko-KR" altLang="en-US" sz="800" dirty="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기간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  <p:grpSp>
              <p:nvGrpSpPr>
                <p:cNvPr id="1061" name="그룹 1060">
                  <a:extLst>
                    <a:ext uri="{FF2B5EF4-FFF2-40B4-BE49-F238E27FC236}">
                      <a16:creationId xmlns:a16="http://schemas.microsoft.com/office/drawing/2014/main" id="{90A82764-A3C5-9962-09E3-1574F83EC20C}"/>
                    </a:ext>
                  </a:extLst>
                </p:cNvPr>
                <p:cNvGrpSpPr/>
                <p:nvPr/>
              </p:nvGrpSpPr>
              <p:grpSpPr>
                <a:xfrm>
                  <a:off x="3847631" y="896796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6" name="Input">
                    <a:extLst>
                      <a:ext uri="{FF2B5EF4-FFF2-40B4-BE49-F238E27FC236}">
                        <a16:creationId xmlns:a16="http://schemas.microsoft.com/office/drawing/2014/main" id="{680BB567-952B-EB8B-065B-A73B523CA310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7" name="그래픽 1066" descr="플립 달력">
                    <a:extLst>
                      <a:ext uri="{FF2B5EF4-FFF2-40B4-BE49-F238E27FC236}">
                        <a16:creationId xmlns:a16="http://schemas.microsoft.com/office/drawing/2014/main" id="{CB7E8139-6D6D-E78D-F0FA-D1BBEEC4CD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62" name="그룹 1061">
                  <a:extLst>
                    <a:ext uri="{FF2B5EF4-FFF2-40B4-BE49-F238E27FC236}">
                      <a16:creationId xmlns:a16="http://schemas.microsoft.com/office/drawing/2014/main" id="{E7820C87-577A-51FB-103B-AB5F54AA5AFB}"/>
                    </a:ext>
                  </a:extLst>
                </p:cNvPr>
                <p:cNvGrpSpPr/>
                <p:nvPr/>
              </p:nvGrpSpPr>
              <p:grpSpPr>
                <a:xfrm>
                  <a:off x="4882300" y="894901"/>
                  <a:ext cx="889388" cy="253071"/>
                  <a:chOff x="5162550" y="5326638"/>
                  <a:chExt cx="889388" cy="253071"/>
                </a:xfrm>
              </p:grpSpPr>
              <p:sp>
                <p:nvSpPr>
                  <p:cNvPr id="1064" name="Input">
                    <a:extLst>
                      <a:ext uri="{FF2B5EF4-FFF2-40B4-BE49-F238E27FC236}">
                        <a16:creationId xmlns:a16="http://schemas.microsoft.com/office/drawing/2014/main" id="{F4B6B8A2-9A3C-5290-CA31-507FD290F5AC}"/>
                      </a:ext>
                    </a:extLst>
                  </p:cNvPr>
                  <p:cNvSpPr/>
                  <p:nvPr/>
                </p:nvSpPr>
                <p:spPr>
                  <a:xfrm>
                    <a:off x="5162550" y="5340727"/>
                    <a:ext cx="889388" cy="224895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FFFF"/>
                  </a:solidFill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72000" tIns="50400" rIns="72000" bIns="504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altLang="ko-KR" sz="8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ea"/>
                        <a:cs typeface="Segoe UI" panose="020B0502040204020203" pitchFamily="34" charset="0"/>
                      </a:rPr>
                      <a:t>2025-12-12</a:t>
                    </a:r>
                    <a:endParaRPr lang="en-US" sz="800" dirty="0">
                      <a:solidFill>
                        <a:schemeClr val="bg1">
                          <a:lumMod val="50000"/>
                        </a:schemeClr>
                      </a:solidFill>
                      <a:latin typeface="+mn-ea"/>
                      <a:cs typeface="Segoe UI" panose="020B0502040204020203" pitchFamily="34" charset="0"/>
                    </a:endParaRPr>
                  </a:p>
                </p:txBody>
              </p:sp>
              <p:pic>
                <p:nvPicPr>
                  <p:cNvPr id="1065" name="그래픽 1064" descr="플립 달력">
                    <a:extLst>
                      <a:ext uri="{FF2B5EF4-FFF2-40B4-BE49-F238E27FC236}">
                        <a16:creationId xmlns:a16="http://schemas.microsoft.com/office/drawing/2014/main" id="{1FD4F055-0143-CA93-D41A-6E95E5CB96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788493" y="5326638"/>
                    <a:ext cx="253071" cy="25307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63" name="TextBox 107">
                  <a:extLst>
                    <a:ext uri="{FF2B5EF4-FFF2-40B4-BE49-F238E27FC236}">
                      <a16:creationId xmlns:a16="http://schemas.microsoft.com/office/drawing/2014/main" id="{C55FD7DA-4B0C-6B1E-0A33-2741E97404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44960" y="923529"/>
                  <a:ext cx="137346" cy="1958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36000" tIns="36000" rIns="36000" bIns="36000" anchor="ctr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sz="800">
                      <a:solidFill>
                        <a:srgbClr val="000000"/>
                      </a:solidFill>
                      <a:latin typeface="나눔고딕" panose="020B0503020000020004" pitchFamily="2" charset="-127"/>
                      <a:ea typeface="나눔고딕" panose="020B0503020000020004" pitchFamily="2" charset="-127"/>
                    </a:rPr>
                    <a:t>~</a:t>
                  </a:r>
                  <a:endParaRPr lang="en-US" altLang="ko-KR" sz="800" dirty="0">
                    <a:solidFill>
                      <a:srgbClr val="000000"/>
                    </a:solidFill>
                    <a:latin typeface="나눔고딕" panose="020B0503020000020004" pitchFamily="2" charset="-127"/>
                    <a:ea typeface="나눔고딕" panose="020B0503020000020004" pitchFamily="2" charset="-127"/>
                  </a:endParaRPr>
                </a:p>
              </p:txBody>
            </p:sp>
          </p:grpSp>
          <p:sp>
            <p:nvSpPr>
              <p:cNvPr id="1057" name="Input">
                <a:extLst>
                  <a:ext uri="{FF2B5EF4-FFF2-40B4-BE49-F238E27FC236}">
                    <a16:creationId xmlns:a16="http://schemas.microsoft.com/office/drawing/2014/main" id="{4FA42D26-DD41-FBF7-6FE6-DCB756881589}"/>
                  </a:ext>
                </a:extLst>
              </p:cNvPr>
              <p:cNvSpPr/>
              <p:nvPr/>
            </p:nvSpPr>
            <p:spPr>
              <a:xfrm>
                <a:off x="5680948" y="931691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8" name="Input">
                <a:extLst>
                  <a:ext uri="{FF2B5EF4-FFF2-40B4-BE49-F238E27FC236}">
                    <a16:creationId xmlns:a16="http://schemas.microsoft.com/office/drawing/2014/main" id="{3776DA44-38AB-8D76-4DEB-FF064AEF903E}"/>
                  </a:ext>
                </a:extLst>
              </p:cNvPr>
              <p:cNvSpPr/>
              <p:nvPr/>
            </p:nvSpPr>
            <p:spPr>
              <a:xfrm>
                <a:off x="6006157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개월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059" name="Input">
                <a:extLst>
                  <a:ext uri="{FF2B5EF4-FFF2-40B4-BE49-F238E27FC236}">
                    <a16:creationId xmlns:a16="http://schemas.microsoft.com/office/drawing/2014/main" id="{C7C7D7D7-307D-0AFA-E663-C8D1388685BB}"/>
                  </a:ext>
                </a:extLst>
              </p:cNvPr>
              <p:cNvSpPr/>
              <p:nvPr/>
            </p:nvSpPr>
            <p:spPr>
              <a:xfrm>
                <a:off x="6332956" y="934209"/>
                <a:ext cx="291438" cy="208344"/>
              </a:xfrm>
              <a:prstGeom prst="roundRect">
                <a:avLst>
                  <a:gd name="adj" fmla="val 23718"/>
                </a:avLst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36000" rIns="0" bIns="360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  <a:cs typeface="Segoe UI" panose="020B0502040204020203" pitchFamily="34" charset="0"/>
                  </a:rPr>
                  <a:t>년</a:t>
                </a:r>
                <a:endParaRPr lang="en-US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74" name="Input">
              <a:extLst>
                <a:ext uri="{FF2B5EF4-FFF2-40B4-BE49-F238E27FC236}">
                  <a16:creationId xmlns:a16="http://schemas.microsoft.com/office/drawing/2014/main" id="{9D99176C-EECB-7899-2037-F9A5B2DA5F8A}"/>
                </a:ext>
              </a:extLst>
            </p:cNvPr>
            <p:cNvSpPr/>
            <p:nvPr/>
          </p:nvSpPr>
          <p:spPr>
            <a:xfrm>
              <a:off x="5055379" y="3428355"/>
              <a:ext cx="958668" cy="226043"/>
            </a:xfrm>
            <a:prstGeom prst="roundRect">
              <a:avLst>
                <a:gd name="adj" fmla="val 7932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보고서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2C77A96B-2BEF-A745-A07B-518B3CA3CF1B}"/>
              </a:ext>
            </a:extLst>
          </p:cNvPr>
          <p:cNvSpPr/>
          <p:nvPr/>
        </p:nvSpPr>
        <p:spPr>
          <a:xfrm>
            <a:off x="1492483" y="409079"/>
            <a:ext cx="8096017" cy="6238212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188" name="그룹 1187">
            <a:extLst>
              <a:ext uri="{FF2B5EF4-FFF2-40B4-BE49-F238E27FC236}">
                <a16:creationId xmlns:a16="http://schemas.microsoft.com/office/drawing/2014/main" id="{9027820C-529D-D720-E44E-6E20DED7A2A5}"/>
              </a:ext>
            </a:extLst>
          </p:cNvPr>
          <p:cNvGrpSpPr/>
          <p:nvPr/>
        </p:nvGrpSpPr>
        <p:grpSpPr>
          <a:xfrm>
            <a:off x="1551786" y="546857"/>
            <a:ext cx="7960216" cy="6092482"/>
            <a:chOff x="1738149" y="871347"/>
            <a:chExt cx="7960216" cy="6092482"/>
          </a:xfrm>
        </p:grpSpPr>
        <p:sp>
          <p:nvSpPr>
            <p:cNvPr id="1189" name="모서리가 둥근 직사각형 25">
              <a:extLst>
                <a:ext uri="{FF2B5EF4-FFF2-40B4-BE49-F238E27FC236}">
                  <a16:creationId xmlns:a16="http://schemas.microsoft.com/office/drawing/2014/main" id="{914D3143-563A-5516-8483-77099BAD90DC}"/>
                </a:ext>
              </a:extLst>
            </p:cNvPr>
            <p:cNvSpPr/>
            <p:nvPr/>
          </p:nvSpPr>
          <p:spPr>
            <a:xfrm>
              <a:off x="1738149" y="871347"/>
              <a:ext cx="7960216" cy="6092482"/>
            </a:xfrm>
            <a:prstGeom prst="round2SameRect">
              <a:avLst>
                <a:gd name="adj1" fmla="val 2152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90" name="TextBox 1189">
              <a:extLst>
                <a:ext uri="{FF2B5EF4-FFF2-40B4-BE49-F238E27FC236}">
                  <a16:creationId xmlns:a16="http://schemas.microsoft.com/office/drawing/2014/main" id="{D27D9DC9-7586-6AAD-7CBA-1C9BE65A84CD}"/>
                </a:ext>
              </a:extLst>
            </p:cNvPr>
            <p:cNvSpPr txBox="1"/>
            <p:nvPr/>
          </p:nvSpPr>
          <p:spPr>
            <a:xfrm>
              <a:off x="1753620" y="1180760"/>
              <a:ext cx="7944745" cy="567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년도 경기교원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핵심역량 진단 설문 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분기</a:t>
              </a:r>
              <a:r>
                <a: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(20260420)</a:t>
              </a:r>
              <a:r>
                <a:rPr lang="ko-KR" altLang="en-US" sz="11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보고서</a:t>
              </a:r>
            </a:p>
          </p:txBody>
        </p:sp>
        <p:pic>
          <p:nvPicPr>
            <p:cNvPr id="1191" name="그림 1190">
              <a:extLst>
                <a:ext uri="{FF2B5EF4-FFF2-40B4-BE49-F238E27FC236}">
                  <a16:creationId xmlns:a16="http://schemas.microsoft.com/office/drawing/2014/main" id="{591CF07F-5A14-C69C-2AFC-7378D2945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0130" y="995802"/>
              <a:ext cx="144000" cy="144000"/>
            </a:xfrm>
            <a:prstGeom prst="rect">
              <a:avLst/>
            </a:prstGeom>
          </p:spPr>
        </p:pic>
      </p:grpSp>
      <p:sp>
        <p:nvSpPr>
          <p:cNvPr id="1236" name="타원 1235">
            <a:extLst>
              <a:ext uri="{FF2B5EF4-FFF2-40B4-BE49-F238E27FC236}">
                <a16:creationId xmlns:a16="http://schemas.microsoft.com/office/drawing/2014/main" id="{ECD59890-5BE0-C826-70F1-8E67B45807AB}"/>
              </a:ext>
            </a:extLst>
          </p:cNvPr>
          <p:cNvSpPr/>
          <p:nvPr/>
        </p:nvSpPr>
        <p:spPr>
          <a:xfrm>
            <a:off x="1546726" y="55947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2B931A8-ECE0-CEBD-3A36-B9C4E1C034AF}"/>
              </a:ext>
            </a:extLst>
          </p:cNvPr>
          <p:cNvGrpSpPr/>
          <p:nvPr/>
        </p:nvGrpSpPr>
        <p:grpSpPr>
          <a:xfrm>
            <a:off x="1631951" y="1491841"/>
            <a:ext cx="7851332" cy="4957081"/>
            <a:chOff x="1631951" y="1491841"/>
            <a:chExt cx="7851332" cy="495708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588222B-7A80-0973-C3F7-465F31C49B7E}"/>
                </a:ext>
              </a:extLst>
            </p:cNvPr>
            <p:cNvGrpSpPr/>
            <p:nvPr/>
          </p:nvGrpSpPr>
          <p:grpSpPr>
            <a:xfrm>
              <a:off x="1631951" y="1491841"/>
              <a:ext cx="7799353" cy="4957081"/>
              <a:chOff x="1631951" y="1491841"/>
              <a:chExt cx="7799353" cy="4957081"/>
            </a:xfrm>
          </p:grpSpPr>
          <p:grpSp>
            <p:nvGrpSpPr>
              <p:cNvPr id="1193" name="그룹 1192">
                <a:extLst>
                  <a:ext uri="{FF2B5EF4-FFF2-40B4-BE49-F238E27FC236}">
                    <a16:creationId xmlns:a16="http://schemas.microsoft.com/office/drawing/2014/main" id="{CEEF6249-52E1-F88F-8608-9E1DDFAF1ACA}"/>
                  </a:ext>
                </a:extLst>
              </p:cNvPr>
              <p:cNvGrpSpPr/>
              <p:nvPr/>
            </p:nvGrpSpPr>
            <p:grpSpPr>
              <a:xfrm>
                <a:off x="1638925" y="1491841"/>
                <a:ext cx="3827485" cy="3017739"/>
                <a:chOff x="1558925" y="873125"/>
                <a:chExt cx="3918305" cy="3017739"/>
              </a:xfrm>
            </p:grpSpPr>
            <p:sp>
              <p:nvSpPr>
                <p:cNvPr id="1231" name="사각형: 둥근 위쪽 모서리 1230">
                  <a:extLst>
                    <a:ext uri="{FF2B5EF4-FFF2-40B4-BE49-F238E27FC236}">
                      <a16:creationId xmlns:a16="http://schemas.microsoft.com/office/drawing/2014/main" id="{B0148143-7B0F-E7D0-79BA-317CCE68556A}"/>
                    </a:ext>
                  </a:extLst>
                </p:cNvPr>
                <p:cNvSpPr/>
                <p:nvPr/>
              </p:nvSpPr>
              <p:spPr>
                <a:xfrm>
                  <a:off x="1563145" y="873125"/>
                  <a:ext cx="3914084" cy="275459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5</a:t>
                  </a:r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대 핵심역량</a:t>
                  </a:r>
                </a:p>
              </p:txBody>
            </p:sp>
            <p:sp>
              <p:nvSpPr>
                <p:cNvPr id="1232" name="직사각형 1231">
                  <a:extLst>
                    <a:ext uri="{FF2B5EF4-FFF2-40B4-BE49-F238E27FC236}">
                      <a16:creationId xmlns:a16="http://schemas.microsoft.com/office/drawing/2014/main" id="{B8530134-19EF-B5CB-7CAA-2481229A513F}"/>
                    </a:ext>
                  </a:extLst>
                </p:cNvPr>
                <p:cNvSpPr/>
                <p:nvPr/>
              </p:nvSpPr>
              <p:spPr>
                <a:xfrm>
                  <a:off x="1558925" y="1148584"/>
                  <a:ext cx="3918305" cy="274228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pic>
            <p:nvPicPr>
              <p:cNvPr id="1194" name="그림 1193">
                <a:extLst>
                  <a:ext uri="{FF2B5EF4-FFF2-40B4-BE49-F238E27FC236}">
                    <a16:creationId xmlns:a16="http://schemas.microsoft.com/office/drawing/2014/main" id="{865090A5-20C0-C346-29E2-A551D748DE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80630" y="1841773"/>
                <a:ext cx="3544073" cy="2544756"/>
              </a:xfrm>
              <a:prstGeom prst="rect">
                <a:avLst/>
              </a:prstGeom>
            </p:spPr>
          </p:pic>
          <p:grpSp>
            <p:nvGrpSpPr>
              <p:cNvPr id="1195" name="그룹 1194">
                <a:extLst>
                  <a:ext uri="{FF2B5EF4-FFF2-40B4-BE49-F238E27FC236}">
                    <a16:creationId xmlns:a16="http://schemas.microsoft.com/office/drawing/2014/main" id="{AEC1D8CD-3715-FF57-7F64-BC89AF936EFA}"/>
                  </a:ext>
                </a:extLst>
              </p:cNvPr>
              <p:cNvGrpSpPr/>
              <p:nvPr/>
            </p:nvGrpSpPr>
            <p:grpSpPr>
              <a:xfrm>
                <a:off x="5589396" y="1491841"/>
                <a:ext cx="3823364" cy="3017740"/>
                <a:chOff x="5603134" y="873125"/>
                <a:chExt cx="3914086" cy="3017740"/>
              </a:xfrm>
            </p:grpSpPr>
            <p:sp>
              <p:nvSpPr>
                <p:cNvPr id="1229" name="사각형: 둥근 위쪽 모서리 1228">
                  <a:extLst>
                    <a:ext uri="{FF2B5EF4-FFF2-40B4-BE49-F238E27FC236}">
                      <a16:creationId xmlns:a16="http://schemas.microsoft.com/office/drawing/2014/main" id="{7C57726A-03D6-E576-27F2-D0B7F3D132E4}"/>
                    </a:ext>
                  </a:extLst>
                </p:cNvPr>
                <p:cNvSpPr/>
                <p:nvPr/>
              </p:nvSpPr>
              <p:spPr>
                <a:xfrm>
                  <a:off x="5603135" y="873125"/>
                  <a:ext cx="3914084" cy="284111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역량 진단 결과</a:t>
                  </a:r>
                </a:p>
              </p:txBody>
            </p:sp>
            <p:sp>
              <p:nvSpPr>
                <p:cNvPr id="1230" name="직사각형 1229">
                  <a:extLst>
                    <a:ext uri="{FF2B5EF4-FFF2-40B4-BE49-F238E27FC236}">
                      <a16:creationId xmlns:a16="http://schemas.microsoft.com/office/drawing/2014/main" id="{90690C3F-3554-C447-5303-8F9805BF92F6}"/>
                    </a:ext>
                  </a:extLst>
                </p:cNvPr>
                <p:cNvSpPr/>
                <p:nvPr/>
              </p:nvSpPr>
              <p:spPr>
                <a:xfrm>
                  <a:off x="5603134" y="1148585"/>
                  <a:ext cx="3914086" cy="274228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grpSp>
            <p:nvGrpSpPr>
              <p:cNvPr id="1196" name="그룹 1195">
                <a:extLst>
                  <a:ext uri="{FF2B5EF4-FFF2-40B4-BE49-F238E27FC236}">
                    <a16:creationId xmlns:a16="http://schemas.microsoft.com/office/drawing/2014/main" id="{68AA2252-A0E9-1704-8A17-660F5A41F18A}"/>
                  </a:ext>
                </a:extLst>
              </p:cNvPr>
              <p:cNvGrpSpPr/>
              <p:nvPr/>
            </p:nvGrpSpPr>
            <p:grpSpPr>
              <a:xfrm>
                <a:off x="1631951" y="4591862"/>
                <a:ext cx="7777726" cy="1857060"/>
                <a:chOff x="1554785" y="4047794"/>
                <a:chExt cx="7962278" cy="1857060"/>
              </a:xfrm>
            </p:grpSpPr>
            <p:sp>
              <p:nvSpPr>
                <p:cNvPr id="1227" name="사각형: 둥근 위쪽 모서리 1226">
                  <a:extLst>
                    <a:ext uri="{FF2B5EF4-FFF2-40B4-BE49-F238E27FC236}">
                      <a16:creationId xmlns:a16="http://schemas.microsoft.com/office/drawing/2014/main" id="{00F88DC2-CB46-332F-BFE3-BA0BF9303BA2}"/>
                    </a:ext>
                  </a:extLst>
                </p:cNvPr>
                <p:cNvSpPr/>
                <p:nvPr/>
              </p:nvSpPr>
              <p:spPr>
                <a:xfrm>
                  <a:off x="1554785" y="4047794"/>
                  <a:ext cx="7962276" cy="275459"/>
                </a:xfrm>
                <a:prstGeom prst="round2SameRect">
                  <a:avLst/>
                </a:pr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2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나의 핵심역량 추이 비교</a:t>
                  </a:r>
                </a:p>
              </p:txBody>
            </p:sp>
            <p:sp>
              <p:nvSpPr>
                <p:cNvPr id="1228" name="직사각형 1227">
                  <a:extLst>
                    <a:ext uri="{FF2B5EF4-FFF2-40B4-BE49-F238E27FC236}">
                      <a16:creationId xmlns:a16="http://schemas.microsoft.com/office/drawing/2014/main" id="{49161907-5515-6BC4-329D-BFE7B2E1A7C9}"/>
                    </a:ext>
                  </a:extLst>
                </p:cNvPr>
                <p:cNvSpPr/>
                <p:nvPr/>
              </p:nvSpPr>
              <p:spPr>
                <a:xfrm>
                  <a:off x="1558924" y="4323254"/>
                  <a:ext cx="7958139" cy="15816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나눔고딕" pitchFamily="2" charset="-127"/>
                  </a:endParaRPr>
                </a:p>
              </p:txBody>
            </p:sp>
          </p:grpSp>
          <p:sp>
            <p:nvSpPr>
              <p:cNvPr id="1197" name="TextBox 1196">
                <a:extLst>
                  <a:ext uri="{FF2B5EF4-FFF2-40B4-BE49-F238E27FC236}">
                    <a16:creationId xmlns:a16="http://schemas.microsoft.com/office/drawing/2014/main" id="{EBE1D74C-5DF0-F529-21EB-FCDD118818F8}"/>
                  </a:ext>
                </a:extLst>
              </p:cNvPr>
              <p:cNvSpPr txBox="1"/>
              <p:nvPr/>
            </p:nvSpPr>
            <p:spPr>
              <a:xfrm>
                <a:off x="1643047" y="4969514"/>
                <a:ext cx="87294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대상 </a:t>
                </a:r>
                <a:r>
                  <a:rPr lang="en-US" altLang="ko-KR" sz="1000" b="1" dirty="0">
                    <a:latin typeface="나눔고딕" pitchFamily="2" charset="-127"/>
                    <a:ea typeface="나눔고딕" pitchFamily="2" charset="-127"/>
                  </a:rPr>
                  <a:t>1 </a:t>
                </a:r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선택</a:t>
                </a:r>
              </a:p>
            </p:txBody>
          </p:sp>
          <p:grpSp>
            <p:nvGrpSpPr>
              <p:cNvPr id="1198" name="그룹 1197">
                <a:extLst>
                  <a:ext uri="{FF2B5EF4-FFF2-40B4-BE49-F238E27FC236}">
                    <a16:creationId xmlns:a16="http://schemas.microsoft.com/office/drawing/2014/main" id="{C2FFD375-69BD-5E60-F246-07FEA4961D03}"/>
                  </a:ext>
                </a:extLst>
              </p:cNvPr>
              <p:cNvGrpSpPr/>
              <p:nvPr/>
            </p:nvGrpSpPr>
            <p:grpSpPr>
              <a:xfrm>
                <a:off x="2431178" y="4975059"/>
                <a:ext cx="2989399" cy="235130"/>
                <a:chOff x="2009881" y="2223911"/>
                <a:chExt cx="3060332" cy="235130"/>
              </a:xfrm>
            </p:grpSpPr>
            <p:sp>
              <p:nvSpPr>
                <p:cNvPr id="1225" name="Input">
                  <a:extLst>
                    <a:ext uri="{FF2B5EF4-FFF2-40B4-BE49-F238E27FC236}">
                      <a16:creationId xmlns:a16="http://schemas.microsoft.com/office/drawing/2014/main" id="{6AEEC916-A6A9-B5CE-9FEF-C2686AC3CD3D}"/>
                    </a:ext>
                  </a:extLst>
                </p:cNvPr>
                <p:cNvSpPr/>
                <p:nvPr/>
              </p:nvSpPr>
              <p:spPr>
                <a:xfrm>
                  <a:off x="2009881" y="2223911"/>
                  <a:ext cx="3060332" cy="2351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2026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년도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 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경기교원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(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교사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) 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핵심역량 진단 설문 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2</a:t>
                  </a: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분기</a:t>
                  </a:r>
                  <a:r>
                    <a:rPr lang="en-US" altLang="ko-KR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(20..</a:t>
                  </a:r>
                </a:p>
              </p:txBody>
            </p:sp>
            <p:sp>
              <p:nvSpPr>
                <p:cNvPr id="1226" name="Chevron Right">
                  <a:extLst>
                    <a:ext uri="{FF2B5EF4-FFF2-40B4-BE49-F238E27FC236}">
                      <a16:creationId xmlns:a16="http://schemas.microsoft.com/office/drawing/2014/main" id="{05CA35FA-BAFB-7015-4DF9-5BC7FE31A9D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0039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199" name="TextBox 1198">
                <a:extLst>
                  <a:ext uri="{FF2B5EF4-FFF2-40B4-BE49-F238E27FC236}">
                    <a16:creationId xmlns:a16="http://schemas.microsoft.com/office/drawing/2014/main" id="{5598F419-DCD4-7044-DADC-1CAACC2F96EF}"/>
                  </a:ext>
                </a:extLst>
              </p:cNvPr>
              <p:cNvSpPr txBox="1"/>
              <p:nvPr/>
            </p:nvSpPr>
            <p:spPr>
              <a:xfrm>
                <a:off x="5551712" y="4969514"/>
                <a:ext cx="87294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대상 </a:t>
                </a:r>
                <a:r>
                  <a:rPr lang="en-US" altLang="ko-KR" sz="1000" b="1" dirty="0">
                    <a:latin typeface="나눔고딕" pitchFamily="2" charset="-127"/>
                    <a:ea typeface="나눔고딕" pitchFamily="2" charset="-127"/>
                  </a:rPr>
                  <a:t>2 </a:t>
                </a:r>
                <a:r>
                  <a:rPr lang="ko-KR" altLang="en-US" sz="1000" b="1" dirty="0">
                    <a:latin typeface="나눔고딕" pitchFamily="2" charset="-127"/>
                    <a:ea typeface="나눔고딕" pitchFamily="2" charset="-127"/>
                  </a:rPr>
                  <a:t>선택</a:t>
                </a:r>
              </a:p>
            </p:txBody>
          </p:sp>
          <p:grpSp>
            <p:nvGrpSpPr>
              <p:cNvPr id="1200" name="그룹 1199">
                <a:extLst>
                  <a:ext uri="{FF2B5EF4-FFF2-40B4-BE49-F238E27FC236}">
                    <a16:creationId xmlns:a16="http://schemas.microsoft.com/office/drawing/2014/main" id="{C4B2727E-E4B1-BEBB-F2CD-580AE21531BD}"/>
                  </a:ext>
                </a:extLst>
              </p:cNvPr>
              <p:cNvGrpSpPr/>
              <p:nvPr/>
            </p:nvGrpSpPr>
            <p:grpSpPr>
              <a:xfrm>
                <a:off x="6339843" y="4975059"/>
                <a:ext cx="2989399" cy="235130"/>
                <a:chOff x="2009881" y="2223911"/>
                <a:chExt cx="3060332" cy="235130"/>
              </a:xfrm>
            </p:grpSpPr>
            <p:sp>
              <p:nvSpPr>
                <p:cNvPr id="1223" name="Input">
                  <a:extLst>
                    <a:ext uri="{FF2B5EF4-FFF2-40B4-BE49-F238E27FC236}">
                      <a16:creationId xmlns:a16="http://schemas.microsoft.com/office/drawing/2014/main" id="{8072DC84-B0A5-F7D8-70FF-26DDD60DFE93}"/>
                    </a:ext>
                  </a:extLst>
                </p:cNvPr>
                <p:cNvSpPr/>
                <p:nvPr/>
              </p:nvSpPr>
              <p:spPr>
                <a:xfrm>
                  <a:off x="2009881" y="2223911"/>
                  <a:ext cx="3060332" cy="23513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ctr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latinLnBrk="1">
                    <a:lnSpc>
                      <a:spcPct val="120000"/>
                    </a:lnSpc>
                    <a:defRPr/>
                  </a:pPr>
                  <a:r>
                    <a:rPr lang="ko-KR" altLang="en-US" sz="900" dirty="0">
                      <a:solidFill>
                        <a:schemeClr val="tx1"/>
                      </a:solidFill>
                      <a:latin typeface="나눔고딕" pitchFamily="2" charset="-127"/>
                      <a:ea typeface="나눔고딕" pitchFamily="2" charset="-127"/>
                    </a:rPr>
                    <a:t>선택한 비교대상을 출력</a:t>
                  </a:r>
                  <a:endParaRPr lang="en-US" altLang="ko-KR" sz="900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endParaRPr>
                </a:p>
              </p:txBody>
            </p:sp>
            <p:sp>
              <p:nvSpPr>
                <p:cNvPr id="1224" name="Chevron Right">
                  <a:extLst>
                    <a:ext uri="{FF2B5EF4-FFF2-40B4-BE49-F238E27FC236}">
                      <a16:creationId xmlns:a16="http://schemas.microsoft.com/office/drawing/2014/main" id="{6CAAE337-8ADF-82A3-87AB-B17AF62379B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4931341" y="2310039"/>
                  <a:ext cx="39561" cy="72000"/>
                </a:xfrm>
                <a:custGeom>
                  <a:avLst/>
                  <a:gdLst>
                    <a:gd name="T0" fmla="*/ 28 w 325"/>
                    <a:gd name="T1" fmla="*/ 0 h 594"/>
                    <a:gd name="T2" fmla="*/ 0 w 325"/>
                    <a:gd name="T3" fmla="*/ 28 h 594"/>
                    <a:gd name="T4" fmla="*/ 269 w 325"/>
                    <a:gd name="T5" fmla="*/ 297 h 594"/>
                    <a:gd name="T6" fmla="*/ 0 w 325"/>
                    <a:gd name="T7" fmla="*/ 566 h 594"/>
                    <a:gd name="T8" fmla="*/ 28 w 325"/>
                    <a:gd name="T9" fmla="*/ 594 h 594"/>
                    <a:gd name="T10" fmla="*/ 325 w 325"/>
                    <a:gd name="T11" fmla="*/ 297 h 594"/>
                    <a:gd name="T12" fmla="*/ 28 w 325"/>
                    <a:gd name="T13" fmla="*/ 0 h 5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25" h="594">
                      <a:moveTo>
                        <a:pt x="28" y="0"/>
                      </a:moveTo>
                      <a:lnTo>
                        <a:pt x="0" y="28"/>
                      </a:lnTo>
                      <a:lnTo>
                        <a:pt x="269" y="297"/>
                      </a:lnTo>
                      <a:lnTo>
                        <a:pt x="0" y="566"/>
                      </a:lnTo>
                      <a:lnTo>
                        <a:pt x="28" y="594"/>
                      </a:lnTo>
                      <a:lnTo>
                        <a:pt x="325" y="29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5F5F5F"/>
                </a:solidFill>
                <a:ln w="9525">
                  <a:solidFill>
                    <a:schemeClr val="bg1">
                      <a:lumMod val="65000"/>
                    </a:schemeClr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sz="9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202" name="직사각형 1201">
                <a:extLst>
                  <a:ext uri="{FF2B5EF4-FFF2-40B4-BE49-F238E27FC236}">
                    <a16:creationId xmlns:a16="http://schemas.microsoft.com/office/drawing/2014/main" id="{A61764A3-30E8-6A2E-3185-25B83C85C273}"/>
                  </a:ext>
                </a:extLst>
              </p:cNvPr>
              <p:cNvSpPr/>
              <p:nvPr/>
            </p:nvSpPr>
            <p:spPr>
              <a:xfrm>
                <a:off x="4059113" y="5583549"/>
                <a:ext cx="528216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03" name="직사각형 1202">
                <a:extLst>
                  <a:ext uri="{FF2B5EF4-FFF2-40B4-BE49-F238E27FC236}">
                    <a16:creationId xmlns:a16="http://schemas.microsoft.com/office/drawing/2014/main" id="{8EE0A0D5-557D-BBF1-703D-5D79F26AA58E}"/>
                  </a:ext>
                </a:extLst>
              </p:cNvPr>
              <p:cNvSpPr/>
              <p:nvPr/>
            </p:nvSpPr>
            <p:spPr>
              <a:xfrm>
                <a:off x="4059113" y="5970496"/>
                <a:ext cx="5282161" cy="3908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ko-KR" altLang="en-US" sz="900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04" name="TextBox 1203">
                <a:extLst>
                  <a:ext uri="{FF2B5EF4-FFF2-40B4-BE49-F238E27FC236}">
                    <a16:creationId xmlns:a16="http://schemas.microsoft.com/office/drawing/2014/main" id="{2377CEE2-2B70-90EC-8485-0A9D14B257F7}"/>
                  </a:ext>
                </a:extLst>
              </p:cNvPr>
              <p:cNvSpPr txBox="1"/>
              <p:nvPr/>
            </p:nvSpPr>
            <p:spPr>
              <a:xfrm>
                <a:off x="1638926" y="5322099"/>
                <a:ext cx="65791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(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단위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: %)</a:t>
                </a:r>
                <a:endParaRPr lang="ko-KR" altLang="en-US" sz="900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05" name="사각형: 둥근 모서리 1204">
                <a:extLst>
                  <a:ext uri="{FF2B5EF4-FFF2-40B4-BE49-F238E27FC236}">
                    <a16:creationId xmlns:a16="http://schemas.microsoft.com/office/drawing/2014/main" id="{5E8D03CC-50A3-CBB0-4677-6BA2BF23C3F4}"/>
                  </a:ext>
                </a:extLst>
              </p:cNvPr>
              <p:cNvSpPr/>
              <p:nvPr/>
            </p:nvSpPr>
            <p:spPr>
              <a:xfrm>
                <a:off x="4025945" y="5697952"/>
                <a:ext cx="3746277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76</a:t>
                </a:r>
                <a:endParaRPr lang="ko-KR" altLang="en-US" sz="900" dirty="0"/>
              </a:p>
            </p:txBody>
          </p:sp>
          <p:sp>
            <p:nvSpPr>
              <p:cNvPr id="1206" name="사각형: 둥근 모서리 1205">
                <a:extLst>
                  <a:ext uri="{FF2B5EF4-FFF2-40B4-BE49-F238E27FC236}">
                    <a16:creationId xmlns:a16="http://schemas.microsoft.com/office/drawing/2014/main" id="{57D51F27-909C-1850-4AFC-7CAE1F6BA0AB}"/>
                  </a:ext>
                </a:extLst>
              </p:cNvPr>
              <p:cNvSpPr/>
              <p:nvPr/>
            </p:nvSpPr>
            <p:spPr>
              <a:xfrm>
                <a:off x="4029969" y="6084899"/>
                <a:ext cx="3331055" cy="162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72000" rtlCol="0" anchor="ctr"/>
              <a:lstStyle/>
              <a:p>
                <a:pPr algn="r"/>
                <a:r>
                  <a:rPr lang="en-US" altLang="ko-KR" sz="900" dirty="0"/>
                  <a:t>65</a:t>
                </a:r>
                <a:endParaRPr lang="ko-KR" altLang="en-US" sz="900" dirty="0"/>
              </a:p>
            </p:txBody>
          </p:sp>
          <p:sp>
            <p:nvSpPr>
              <p:cNvPr id="1207" name="TextBox 1206">
                <a:extLst>
                  <a:ext uri="{FF2B5EF4-FFF2-40B4-BE49-F238E27FC236}">
                    <a16:creationId xmlns:a16="http://schemas.microsoft.com/office/drawing/2014/main" id="{8EAE87D1-AB17-6A11-C031-6C13EC3449DB}"/>
                  </a:ext>
                </a:extLst>
              </p:cNvPr>
              <p:cNvSpPr txBox="1"/>
              <p:nvPr/>
            </p:nvSpPr>
            <p:spPr>
              <a:xfrm>
                <a:off x="5607941" y="1858233"/>
                <a:ext cx="63992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>
                    <a:latin typeface="나눔고딕" pitchFamily="2" charset="-127"/>
                    <a:ea typeface="나눔고딕" pitchFamily="2" charset="-127"/>
                  </a:rPr>
                  <a:t>강점역량</a:t>
                </a:r>
                <a:endParaRPr lang="ko-KR" altLang="en-US" sz="900" b="1" dirty="0"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208" name="TextBox 1207">
                <a:extLst>
                  <a:ext uri="{FF2B5EF4-FFF2-40B4-BE49-F238E27FC236}">
                    <a16:creationId xmlns:a16="http://schemas.microsoft.com/office/drawing/2014/main" id="{6B1C4B5B-95F9-E6E2-79FD-28C56339B50E}"/>
                  </a:ext>
                </a:extLst>
              </p:cNvPr>
              <p:cNvSpPr txBox="1"/>
              <p:nvPr/>
            </p:nvSpPr>
            <p:spPr>
              <a:xfrm>
                <a:off x="5607941" y="2141143"/>
                <a:ext cx="62217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itchFamily="2" charset="-127"/>
                    <a:ea typeface="나눔고딕" pitchFamily="2" charset="-127"/>
                  </a:rPr>
                  <a:t>약점역량</a:t>
                </a:r>
              </a:p>
            </p:txBody>
          </p:sp>
          <p:sp>
            <p:nvSpPr>
              <p:cNvPr id="1209" name="직사각형 1208">
                <a:extLst>
                  <a:ext uri="{FF2B5EF4-FFF2-40B4-BE49-F238E27FC236}">
                    <a16:creationId xmlns:a16="http://schemas.microsoft.com/office/drawing/2014/main" id="{21CE8967-8320-83B2-DB74-BB0BD25A8295}"/>
                  </a:ext>
                </a:extLst>
              </p:cNvPr>
              <p:cNvSpPr/>
              <p:nvPr/>
            </p:nvSpPr>
            <p:spPr>
              <a:xfrm>
                <a:off x="6226357" y="1861238"/>
                <a:ext cx="836688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교육과정 설계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0" name="직사각형 1209">
                <a:extLst>
                  <a:ext uri="{FF2B5EF4-FFF2-40B4-BE49-F238E27FC236}">
                    <a16:creationId xmlns:a16="http://schemas.microsoft.com/office/drawing/2014/main" id="{0D52E4D3-D453-6198-F920-142B9FE52296}"/>
                  </a:ext>
                </a:extLst>
              </p:cNvPr>
              <p:cNvSpPr/>
              <p:nvPr/>
            </p:nvSpPr>
            <p:spPr>
              <a:xfrm>
                <a:off x="7112310" y="1861238"/>
                <a:ext cx="63497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생활교육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1" name="직사각형 1210">
                <a:extLst>
                  <a:ext uri="{FF2B5EF4-FFF2-40B4-BE49-F238E27FC236}">
                    <a16:creationId xmlns:a16="http://schemas.microsoft.com/office/drawing/2014/main" id="{58C76B84-7980-679B-04B3-14FB0B7E8CB1}"/>
                  </a:ext>
                </a:extLst>
              </p:cNvPr>
              <p:cNvSpPr/>
              <p:nvPr/>
            </p:nvSpPr>
            <p:spPr>
              <a:xfrm>
                <a:off x="7787511" y="1861238"/>
                <a:ext cx="931086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변화관리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+mn-ea"/>
                  </a:rPr>
                  <a:t>디지털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+mn-ea"/>
                  </a:rPr>
                  <a:t>)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2" name="직사각형 1211">
                <a:extLst>
                  <a:ext uri="{FF2B5EF4-FFF2-40B4-BE49-F238E27FC236}">
                    <a16:creationId xmlns:a16="http://schemas.microsoft.com/office/drawing/2014/main" id="{0D5C997F-A81E-F24D-D26D-3A4F85AA83D3}"/>
                  </a:ext>
                </a:extLst>
              </p:cNvPr>
              <p:cNvSpPr/>
              <p:nvPr/>
            </p:nvSpPr>
            <p:spPr>
              <a:xfrm>
                <a:off x="6226356" y="2142509"/>
                <a:ext cx="1031925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  <a:latin typeface="+mn-ea"/>
                  </a:rPr>
                  <a:t>수업운영 및  평가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3" name="직사각형 1212">
                <a:extLst>
                  <a:ext uri="{FF2B5EF4-FFF2-40B4-BE49-F238E27FC236}">
                    <a16:creationId xmlns:a16="http://schemas.microsoft.com/office/drawing/2014/main" id="{1FDDEB9F-6550-2F0D-9017-E4544AE41C83}"/>
                  </a:ext>
                </a:extLst>
              </p:cNvPr>
              <p:cNvSpPr/>
              <p:nvPr/>
            </p:nvSpPr>
            <p:spPr>
              <a:xfrm>
                <a:off x="7320861" y="2142509"/>
                <a:ext cx="80723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  <a:latin typeface="+mn-ea"/>
                  </a:rPr>
                  <a:t>소통 및 협력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214" name="TextBox 1213">
                <a:extLst>
                  <a:ext uri="{FF2B5EF4-FFF2-40B4-BE49-F238E27FC236}">
                    <a16:creationId xmlns:a16="http://schemas.microsoft.com/office/drawing/2014/main" id="{248D5632-2261-6B48-6829-1518D3182AEB}"/>
                  </a:ext>
                </a:extLst>
              </p:cNvPr>
              <p:cNvSpPr txBox="1"/>
              <p:nvPr/>
            </p:nvSpPr>
            <p:spPr>
              <a:xfrm>
                <a:off x="5607941" y="3765596"/>
                <a:ext cx="126149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latin typeface="나눔고딕" pitchFamily="2" charset="-127"/>
                    <a:ea typeface="나눔고딕" pitchFamily="2" charset="-127"/>
                  </a:rPr>
                  <a:t>진단 결과</a:t>
                </a:r>
              </a:p>
            </p:txBody>
          </p:sp>
          <p:sp>
            <p:nvSpPr>
              <p:cNvPr id="1215" name="TextBox 1214">
                <a:extLst>
                  <a:ext uri="{FF2B5EF4-FFF2-40B4-BE49-F238E27FC236}">
                    <a16:creationId xmlns:a16="http://schemas.microsoft.com/office/drawing/2014/main" id="{0544F66B-9D81-3169-3BFD-10238C0EB936}"/>
                  </a:ext>
                </a:extLst>
              </p:cNvPr>
              <p:cNvSpPr txBox="1"/>
              <p:nvPr/>
            </p:nvSpPr>
            <p:spPr>
              <a:xfrm>
                <a:off x="5607942" y="3970790"/>
                <a:ext cx="3823362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변화에 능동적이고 교육에 대한 역할과 업무에 집중하여 성과를 내고 있습니다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 </a:t>
                </a:r>
              </a:p>
              <a:p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구성원과 조직 전반의 소통과 운영 향상에 집중해보세요</a:t>
                </a:r>
                <a:r>
                  <a:rPr lang="en-US" altLang="ko-KR" sz="900" dirty="0">
                    <a:latin typeface="나눔고딕" pitchFamily="2" charset="-127"/>
                    <a:ea typeface="나눔고딕" pitchFamily="2" charset="-127"/>
                  </a:rPr>
                  <a:t>.</a:t>
                </a:r>
                <a:r>
                  <a:rPr lang="ko-KR" altLang="en-US" sz="900" dirty="0">
                    <a:latin typeface="나눔고딕" pitchFamily="2" charset="-127"/>
                    <a:ea typeface="나눔고딕" pitchFamily="2" charset="-127"/>
                  </a:rPr>
                  <a:t> </a:t>
                </a:r>
              </a:p>
            </p:txBody>
          </p:sp>
          <p:sp>
            <p:nvSpPr>
              <p:cNvPr id="1216" name="직사각형 1215">
                <a:extLst>
                  <a:ext uri="{FF2B5EF4-FFF2-40B4-BE49-F238E27FC236}">
                    <a16:creationId xmlns:a16="http://schemas.microsoft.com/office/drawing/2014/main" id="{D8986978-5891-3150-4F34-993020156B0E}"/>
                  </a:ext>
                </a:extLst>
              </p:cNvPr>
              <p:cNvSpPr/>
              <p:nvPr/>
            </p:nvSpPr>
            <p:spPr>
              <a:xfrm>
                <a:off x="1710257" y="5583548"/>
                <a:ext cx="1013695" cy="7777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교육과정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나눔고딕" pitchFamily="2" charset="-127"/>
                  </a:rPr>
                  <a:t>역량군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17" name="직사각형 1216">
                <a:extLst>
                  <a:ext uri="{FF2B5EF4-FFF2-40B4-BE49-F238E27FC236}">
                    <a16:creationId xmlns:a16="http://schemas.microsoft.com/office/drawing/2014/main" id="{373FAFA4-3E13-4D98-F395-AC57D7E48046}"/>
                  </a:ext>
                </a:extLst>
              </p:cNvPr>
              <p:cNvSpPr/>
              <p:nvPr/>
            </p:nvSpPr>
            <p:spPr>
              <a:xfrm>
                <a:off x="2723951" y="5583549"/>
                <a:ext cx="1335163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1.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교육과정 설계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  <p:sp>
            <p:nvSpPr>
              <p:cNvPr id="1218" name="직사각형 1217">
                <a:extLst>
                  <a:ext uri="{FF2B5EF4-FFF2-40B4-BE49-F238E27FC236}">
                    <a16:creationId xmlns:a16="http://schemas.microsoft.com/office/drawing/2014/main" id="{E81B9F64-4C1A-0515-A908-3CC0DDE1BD46}"/>
                  </a:ext>
                </a:extLst>
              </p:cNvPr>
              <p:cNvSpPr/>
              <p:nvPr/>
            </p:nvSpPr>
            <p:spPr>
              <a:xfrm>
                <a:off x="2723951" y="5970496"/>
                <a:ext cx="1335162" cy="39080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tx1"/>
                    </a:solidFill>
                    <a:latin typeface="나눔고딕" pitchFamily="2" charset="-127"/>
                  </a:rPr>
                  <a:t>2.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고딕" pitchFamily="2" charset="-127"/>
                  </a:rPr>
                  <a:t>수업운영 및 평가</a:t>
                </a:r>
                <a:endParaRPr lang="ko-KR" altLang="en-US" dirty="0">
                  <a:solidFill>
                    <a:schemeClr val="tx1"/>
                  </a:solidFill>
                  <a:latin typeface="나눔고딕" pitchFamily="2" charset="-127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34646F6-DB08-A6BA-9DDC-B8AA2211D87D}"/>
                </a:ext>
              </a:extLst>
            </p:cNvPr>
            <p:cNvGrpSpPr/>
            <p:nvPr/>
          </p:nvGrpSpPr>
          <p:grpSpPr>
            <a:xfrm>
              <a:off x="7666487" y="5291771"/>
              <a:ext cx="1816796" cy="230832"/>
              <a:chOff x="7731223" y="5129931"/>
              <a:chExt cx="1816796" cy="23083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B86062-B89A-0DAF-107D-8683CF2BD34C}"/>
                  </a:ext>
                </a:extLst>
              </p:cNvPr>
              <p:cNvSpPr txBox="1"/>
              <p:nvPr/>
            </p:nvSpPr>
            <p:spPr>
              <a:xfrm>
                <a:off x="7837755" y="5129931"/>
                <a:ext cx="8068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비교 대상 </a:t>
                </a:r>
                <a:r>
                  <a:rPr lang="en-US" altLang="ko-KR" sz="900" b="1" dirty="0"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1 </a:t>
                </a:r>
                <a:endParaRPr lang="ko-KR" altLang="en-US" sz="9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5B0DE6-73A0-2F6D-D81B-DB4BEF91C8B1}"/>
                  </a:ext>
                </a:extLst>
              </p:cNvPr>
              <p:cNvSpPr txBox="1"/>
              <p:nvPr/>
            </p:nvSpPr>
            <p:spPr>
              <a:xfrm>
                <a:off x="8741188" y="5129931"/>
                <a:ext cx="8068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900" dirty="0">
                    <a:solidFill>
                      <a:schemeClr val="bg1">
                        <a:lumMod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비교 대상 </a:t>
                </a:r>
                <a:r>
                  <a:rPr lang="en-US" altLang="ko-KR" sz="900" dirty="0">
                    <a:solidFill>
                      <a:schemeClr val="bg1">
                        <a:lumMod val="50000"/>
                      </a:schemeClr>
                    </a:solidFill>
                    <a:latin typeface="나눔고딕" pitchFamily="2" charset="-127"/>
                    <a:ea typeface="나눔고딕" pitchFamily="2" charset="-127"/>
                  </a:rPr>
                  <a:t>2 </a:t>
                </a:r>
                <a:endParaRPr lang="ko-KR" altLang="en-US" sz="900" dirty="0">
                  <a:solidFill>
                    <a:schemeClr val="bg1">
                      <a:lumMod val="50000"/>
                    </a:schemeClr>
                  </a:solidFill>
                  <a:latin typeface="나눔고딕" pitchFamily="2" charset="-127"/>
                  <a:ea typeface="나눔고딕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8326C6F-7B9E-BA37-890D-06EA0293CF25}"/>
                  </a:ext>
                </a:extLst>
              </p:cNvPr>
              <p:cNvSpPr/>
              <p:nvPr/>
            </p:nvSpPr>
            <p:spPr>
              <a:xfrm>
                <a:off x="7731223" y="5182315"/>
                <a:ext cx="162000" cy="14869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B5B8955B-5F91-9C19-391E-76A7501C1099}"/>
                  </a:ext>
                </a:extLst>
              </p:cNvPr>
              <p:cNvSpPr/>
              <p:nvPr/>
            </p:nvSpPr>
            <p:spPr>
              <a:xfrm>
                <a:off x="8636812" y="5182315"/>
                <a:ext cx="162000" cy="1486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CB2A42D-EE85-B0A4-F875-A7E87A35D723}"/>
              </a:ext>
            </a:extLst>
          </p:cNvPr>
          <p:cNvSpPr/>
          <p:nvPr/>
        </p:nvSpPr>
        <p:spPr>
          <a:xfrm>
            <a:off x="1583159" y="1455145"/>
            <a:ext cx="7901969" cy="4993776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진단 결과 차트</a:t>
            </a:r>
            <a:r>
              <a:rPr lang="en-US" altLang="ko-KR" sz="2400" dirty="0">
                <a:solidFill>
                  <a:srgbClr val="FF0000"/>
                </a:solidFill>
                <a:latin typeface="나눔고딕" pitchFamily="2" charset="-127"/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latin typeface="나눔고딕" pitchFamily="2" charset="-127"/>
              </a:rPr>
              <a:t>도표 화면을 출력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0D7A0AD-BAB0-5148-774C-99150B600F26}"/>
              </a:ext>
            </a:extLst>
          </p:cNvPr>
          <p:cNvGraphicFramePr>
            <a:graphicFrameLocks noGrp="1"/>
          </p:cNvGraphicFramePr>
          <p:nvPr/>
        </p:nvGraphicFramePr>
        <p:xfrm>
          <a:off x="5711853" y="2433992"/>
          <a:ext cx="3676070" cy="1315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361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86290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22130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역량명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내 점수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참여자 평균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연구평가 기준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교육과정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68.1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65.4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72.1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생활교육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73.8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algn="ctr" latinLnBrk="1">
                        <a:spcAft>
                          <a:spcPts val="400"/>
                        </a:spcAft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학교공동체 역량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66.5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69.7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71.6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7336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자기개발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71.9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72.3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70.8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  <a:tr h="194623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문제해결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역량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70.3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68.1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70.4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462087"/>
                  </a:ext>
                </a:extLst>
              </a:tr>
            </a:tbl>
          </a:graphicData>
        </a:graphic>
      </p:graphicFrame>
      <p:sp>
        <p:nvSpPr>
          <p:cNvPr id="127" name="타원 126">
            <a:extLst>
              <a:ext uri="{FF2B5EF4-FFF2-40B4-BE49-F238E27FC236}">
                <a16:creationId xmlns:a16="http://schemas.microsoft.com/office/drawing/2014/main" id="{AA59C1E8-6A39-AC4D-EFDE-D3E552738A64}"/>
              </a:ext>
            </a:extLst>
          </p:cNvPr>
          <p:cNvSpPr/>
          <p:nvPr/>
        </p:nvSpPr>
        <p:spPr>
          <a:xfrm>
            <a:off x="1499670" y="13860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99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13683D8-CDD8-22C1-3AD5-247DF79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CFCBB0C-1F9A-75A1-164A-04C42B69099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8DCECE3C-F909-0380-C563-DE0AC76454D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DA4FE42-77AE-287C-11F9-CC31B14CDD6A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4A78A053-4DDC-9E57-4B42-BA7D37C98463}"/>
              </a:ext>
            </a:extLst>
          </p:cNvPr>
          <p:cNvGraphicFramePr/>
          <p:nvPr/>
        </p:nvGraphicFramePr>
        <p:xfrm>
          <a:off x="9655174" y="276226"/>
          <a:ext cx="2532687" cy="84855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클릭 시 보고서 화면 프린트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뷰어 솔루션에 따른 프린터 설정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2D57A10A-089A-F3F1-9803-1CE3A10622C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역량진단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나의 진단결과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738A9B8-C8E5-C8C6-AD30-48E4CB099C21}"/>
              </a:ext>
            </a:extLst>
          </p:cNvPr>
          <p:cNvGraphicFramePr>
            <a:graphicFrameLocks noGrp="1"/>
          </p:cNvGraphicFramePr>
          <p:nvPr/>
        </p:nvGraphicFramePr>
        <p:xfrm>
          <a:off x="1559597" y="4943260"/>
          <a:ext cx="7957465" cy="1442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1261848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  <a:gridCol w="3606325">
                  <a:extLst>
                    <a:ext uri="{9D8B030D-6E8A-4147-A177-3AD203B41FA5}">
                      <a16:colId xmlns:a16="http://schemas.microsoft.com/office/drawing/2014/main" val="4224391965"/>
                    </a:ext>
                  </a:extLst>
                </a:gridCol>
                <a:gridCol w="1316052">
                  <a:extLst>
                    <a:ext uri="{9D8B030D-6E8A-4147-A177-3AD203B41FA5}">
                      <a16:colId xmlns:a16="http://schemas.microsoft.com/office/drawing/2014/main" val="1370235449"/>
                    </a:ext>
                  </a:extLst>
                </a:gridCol>
                <a:gridCol w="1347283">
                  <a:extLst>
                    <a:ext uri="{9D8B030D-6E8A-4147-A177-3AD203B41FA5}">
                      <a16:colId xmlns:a16="http://schemas.microsoft.com/office/drawing/2014/main" val="4269123666"/>
                    </a:ext>
                  </a:extLst>
                </a:gridCol>
              </a:tblGrid>
              <a:tr h="352940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No.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진단일자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진단명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진단상태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진단결과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2026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년도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경기교원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교사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핵심역량 진단 설문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미진행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-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algn="r" latinLnBrk="1">
                        <a:spcAft>
                          <a:spcPts val="400"/>
                        </a:spcAft>
                      </a:pP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dirty="0">
                        <a:solidFill>
                          <a:srgbClr val="00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2026-04-20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04867"/>
                  </a:ext>
                </a:extLst>
              </a:tr>
              <a:tr h="363234">
                <a:tc>
                  <a:txBody>
                    <a:bodyPr/>
                    <a:lstStyle/>
                    <a:p>
                      <a:pPr marL="0" marR="0" lvl="0" indent="0" algn="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1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2026-01-12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2026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년도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경기교원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(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교사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)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핵심역량 진단 설문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분기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완료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결과보기</a:t>
                      </a:r>
                    </a:p>
                  </a:txBody>
                  <a:tcPr marL="90000" marR="90000" marT="72000" marB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911795"/>
                  </a:ext>
                </a:extLst>
              </a:tr>
            </a:tbl>
          </a:graphicData>
        </a:graphic>
      </p:graphicFrame>
      <p:sp>
        <p:nvSpPr>
          <p:cNvPr id="1187" name="사각형: 둥근 모서리 1186">
            <a:extLst>
              <a:ext uri="{FF2B5EF4-FFF2-40B4-BE49-F238E27FC236}">
                <a16:creationId xmlns:a16="http://schemas.microsoft.com/office/drawing/2014/main" id="{1D3F50CC-4967-A6F4-FD87-C0A4A2EECEAF}"/>
              </a:ext>
            </a:extLst>
          </p:cNvPr>
          <p:cNvSpPr/>
          <p:nvPr/>
        </p:nvSpPr>
        <p:spPr>
          <a:xfrm>
            <a:off x="1492483" y="440293"/>
            <a:ext cx="8096017" cy="6175193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89" name="모서리가 둥근 직사각형 25">
            <a:extLst>
              <a:ext uri="{FF2B5EF4-FFF2-40B4-BE49-F238E27FC236}">
                <a16:creationId xmlns:a16="http://schemas.microsoft.com/office/drawing/2014/main" id="{AD8EC19B-BBDD-1139-B9DA-10063E6FA1AE}"/>
              </a:ext>
            </a:extLst>
          </p:cNvPr>
          <p:cNvSpPr/>
          <p:nvPr/>
        </p:nvSpPr>
        <p:spPr>
          <a:xfrm>
            <a:off x="1551786" y="435543"/>
            <a:ext cx="7960216" cy="3768808"/>
          </a:xfrm>
          <a:prstGeom prst="round2SameRect">
            <a:avLst>
              <a:gd name="adj1" fmla="val 19"/>
              <a:gd name="adj2" fmla="val 3266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1317176-1F40-52F8-FE72-915960C40035}"/>
              </a:ext>
            </a:extLst>
          </p:cNvPr>
          <p:cNvGrpSpPr/>
          <p:nvPr/>
        </p:nvGrpSpPr>
        <p:grpSpPr>
          <a:xfrm>
            <a:off x="1631951" y="445274"/>
            <a:ext cx="7806088" cy="3303887"/>
            <a:chOff x="1631951" y="1089329"/>
            <a:chExt cx="7806088" cy="33038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678C813-76B8-B489-AEB3-918E3D6222AC}"/>
                </a:ext>
              </a:extLst>
            </p:cNvPr>
            <p:cNvSpPr/>
            <p:nvPr/>
          </p:nvSpPr>
          <p:spPr>
            <a:xfrm>
              <a:off x="1631951" y="1089329"/>
              <a:ext cx="7806088" cy="33038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고딕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BFE39B5-DB9C-8A70-361F-DBA206E56B56}"/>
                </a:ext>
              </a:extLst>
            </p:cNvPr>
            <p:cNvSpPr/>
            <p:nvPr/>
          </p:nvSpPr>
          <p:spPr>
            <a:xfrm>
              <a:off x="4057242" y="1943997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6BB2C6-6D4F-91F8-EB5E-7D59CBD5FA68}"/>
                </a:ext>
              </a:extLst>
            </p:cNvPr>
            <p:cNvSpPr/>
            <p:nvPr/>
          </p:nvSpPr>
          <p:spPr>
            <a:xfrm>
              <a:off x="4057242" y="2330944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7BDFC2A-57EC-72A5-BA54-AE51BF400874}"/>
                </a:ext>
              </a:extLst>
            </p:cNvPr>
            <p:cNvSpPr/>
            <p:nvPr/>
          </p:nvSpPr>
          <p:spPr>
            <a:xfrm>
              <a:off x="4057242" y="2724087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F49E0-06EF-BFB5-D0F7-570746350CD8}"/>
                </a:ext>
              </a:extLst>
            </p:cNvPr>
            <p:cNvSpPr/>
            <p:nvPr/>
          </p:nvSpPr>
          <p:spPr>
            <a:xfrm>
              <a:off x="4057242" y="3119272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16F8462-3575-2DAA-A2FC-F125215F3721}"/>
                </a:ext>
              </a:extLst>
            </p:cNvPr>
            <p:cNvSpPr/>
            <p:nvPr/>
          </p:nvSpPr>
          <p:spPr>
            <a:xfrm>
              <a:off x="4057242" y="3513523"/>
              <a:ext cx="5312109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504C6DE-0FC7-E03D-343D-A6D65176A315}"/>
                </a:ext>
              </a:extLst>
            </p:cNvPr>
            <p:cNvSpPr/>
            <p:nvPr/>
          </p:nvSpPr>
          <p:spPr>
            <a:xfrm>
              <a:off x="4053182" y="3904329"/>
              <a:ext cx="5312148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30A5C90E-517C-DC93-C766-7E51BA864463}"/>
                </a:ext>
              </a:extLst>
            </p:cNvPr>
            <p:cNvSpPr/>
            <p:nvPr/>
          </p:nvSpPr>
          <p:spPr>
            <a:xfrm>
              <a:off x="3987937" y="2061498"/>
              <a:ext cx="335938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74</a:t>
              </a:r>
              <a:endParaRPr lang="ko-KR" altLang="en-US" sz="9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57BCEB3-46D0-49D6-7262-78A5AB5E56F1}"/>
                </a:ext>
              </a:extLst>
            </p:cNvPr>
            <p:cNvSpPr/>
            <p:nvPr/>
          </p:nvSpPr>
          <p:spPr>
            <a:xfrm>
              <a:off x="3995168" y="2448445"/>
              <a:ext cx="298704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66</a:t>
              </a:r>
              <a:endParaRPr lang="ko-KR" altLang="en-US" sz="9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383B195-890C-5A44-C7AD-EAA826B465C3}"/>
                </a:ext>
              </a:extLst>
            </p:cNvPr>
            <p:cNvSpPr/>
            <p:nvPr/>
          </p:nvSpPr>
          <p:spPr>
            <a:xfrm>
              <a:off x="3991318" y="2848596"/>
              <a:ext cx="318522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70</a:t>
              </a:r>
              <a:endParaRPr lang="ko-KR" altLang="en-US" sz="9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C372024-9126-9286-B037-D32C40D7A94C}"/>
                </a:ext>
              </a:extLst>
            </p:cNvPr>
            <p:cNvSpPr/>
            <p:nvPr/>
          </p:nvSpPr>
          <p:spPr>
            <a:xfrm>
              <a:off x="3983796" y="3242605"/>
              <a:ext cx="3572546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77</a:t>
              </a:r>
              <a:endParaRPr lang="ko-KR" altLang="en-US" sz="9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7D7D1BE-AB22-7EE3-E2FE-3CFD0EE157BB}"/>
                </a:ext>
              </a:extLst>
            </p:cNvPr>
            <p:cNvSpPr/>
            <p:nvPr/>
          </p:nvSpPr>
          <p:spPr>
            <a:xfrm>
              <a:off x="3989709" y="3622442"/>
              <a:ext cx="3475074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75</a:t>
              </a:r>
              <a:endParaRPr lang="ko-KR" altLang="en-US" sz="9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8EA9737-CC6B-8853-F112-28EB987D4388}"/>
                </a:ext>
              </a:extLst>
            </p:cNvPr>
            <p:cNvSpPr/>
            <p:nvPr/>
          </p:nvSpPr>
          <p:spPr>
            <a:xfrm>
              <a:off x="3981503" y="4016451"/>
              <a:ext cx="3897637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82</a:t>
              </a:r>
              <a:endParaRPr lang="ko-KR" altLang="en-US" sz="9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B2CD393-D53D-9FAB-0B83-C583115B881F}"/>
                </a:ext>
              </a:extLst>
            </p:cNvPr>
            <p:cNvSpPr/>
            <p:nvPr/>
          </p:nvSpPr>
          <p:spPr>
            <a:xfrm>
              <a:off x="4065170" y="1553655"/>
              <a:ext cx="5304180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D3BBFA0-7351-8C48-05D6-0521BCF9C8D7}"/>
                </a:ext>
              </a:extLst>
            </p:cNvPr>
            <p:cNvSpPr/>
            <p:nvPr/>
          </p:nvSpPr>
          <p:spPr>
            <a:xfrm>
              <a:off x="3996482" y="1670973"/>
              <a:ext cx="3699175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71</a:t>
              </a:r>
              <a:endParaRPr lang="ko-KR" altLang="en-US" sz="900" dirty="0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B1BBD43-78B6-7E04-5BF2-A6D77B39FE0C}"/>
                </a:ext>
              </a:extLst>
            </p:cNvPr>
            <p:cNvSpPr/>
            <p:nvPr/>
          </p:nvSpPr>
          <p:spPr>
            <a:xfrm>
              <a:off x="1706523" y="1952009"/>
              <a:ext cx="1017920" cy="7741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공동체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9A79876-AFB4-4382-2C12-E4C5422C09A8}"/>
                </a:ext>
              </a:extLst>
            </p:cNvPr>
            <p:cNvSpPr/>
            <p:nvPr/>
          </p:nvSpPr>
          <p:spPr>
            <a:xfrm>
              <a:off x="2724443" y="1943997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5.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학급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/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학교 경영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C635044-284D-5AA5-6615-DD12CB71B858}"/>
                </a:ext>
              </a:extLst>
            </p:cNvPr>
            <p:cNvSpPr/>
            <p:nvPr/>
          </p:nvSpPr>
          <p:spPr>
            <a:xfrm>
              <a:off x="2724443" y="2330944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6.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소통 및 협력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C90CDC1B-B62D-EF2E-AD4D-6C2F422FBC14}"/>
                </a:ext>
              </a:extLst>
            </p:cNvPr>
            <p:cNvSpPr/>
            <p:nvPr/>
          </p:nvSpPr>
          <p:spPr>
            <a:xfrm>
              <a:off x="2724443" y="2724087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7.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교육생태계 활용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5D379D52-D2AD-6ECF-10F8-3BDC6A738E2F}"/>
                </a:ext>
              </a:extLst>
            </p:cNvPr>
            <p:cNvSpPr/>
            <p:nvPr/>
          </p:nvSpPr>
          <p:spPr>
            <a:xfrm>
              <a:off x="2724443" y="3119272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8.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변화대응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디지털</a:t>
              </a:r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)</a:t>
              </a:r>
              <a:endParaRPr lang="ko-KR" altLang="en-US" sz="10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425CA9B-E826-6189-DCE4-9A9D802C3061}"/>
                </a:ext>
              </a:extLst>
            </p:cNvPr>
            <p:cNvSpPr/>
            <p:nvPr/>
          </p:nvSpPr>
          <p:spPr>
            <a:xfrm>
              <a:off x="2724443" y="3513523"/>
              <a:ext cx="1340728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9.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전문성개발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4F43C78-1060-17E0-E08F-DE05DC654BC6}"/>
                </a:ext>
              </a:extLst>
            </p:cNvPr>
            <p:cNvSpPr/>
            <p:nvPr/>
          </p:nvSpPr>
          <p:spPr>
            <a:xfrm>
              <a:off x="2720422" y="3904329"/>
              <a:ext cx="1349312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10.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자기관리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01B3C5F-8DB9-A658-7992-ECCD1512DFEE}"/>
                </a:ext>
              </a:extLst>
            </p:cNvPr>
            <p:cNvSpPr/>
            <p:nvPr/>
          </p:nvSpPr>
          <p:spPr>
            <a:xfrm>
              <a:off x="1706523" y="2723022"/>
              <a:ext cx="1017920" cy="7905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문제 해결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26D2A2EC-A4FB-AAA7-E37C-04A94330F24E}"/>
                </a:ext>
              </a:extLst>
            </p:cNvPr>
            <p:cNvSpPr/>
            <p:nvPr/>
          </p:nvSpPr>
          <p:spPr>
            <a:xfrm>
              <a:off x="2724443" y="1553655"/>
              <a:ext cx="1340729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진로교육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DA5A1FA-4B85-0D2F-325A-3FFDB611D007}"/>
                </a:ext>
              </a:extLst>
            </p:cNvPr>
            <p:cNvSpPr/>
            <p:nvPr/>
          </p:nvSpPr>
          <p:spPr>
            <a:xfrm>
              <a:off x="1706523" y="3509143"/>
              <a:ext cx="1017920" cy="7859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자기개발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53" name="직사각형 1152">
              <a:extLst>
                <a:ext uri="{FF2B5EF4-FFF2-40B4-BE49-F238E27FC236}">
                  <a16:creationId xmlns:a16="http://schemas.microsoft.com/office/drawing/2014/main" id="{77A69AC9-512A-CAA1-425D-9961577626D8}"/>
                </a:ext>
              </a:extLst>
            </p:cNvPr>
            <p:cNvSpPr/>
            <p:nvPr/>
          </p:nvSpPr>
          <p:spPr>
            <a:xfrm>
              <a:off x="4059113" y="1157425"/>
              <a:ext cx="5304180" cy="3908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ko-KR" altLang="en-US" sz="900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57" name="사각형: 둥근 모서리 1156">
              <a:extLst>
                <a:ext uri="{FF2B5EF4-FFF2-40B4-BE49-F238E27FC236}">
                  <a16:creationId xmlns:a16="http://schemas.microsoft.com/office/drawing/2014/main" id="{ABF94A7C-5944-A344-4568-624A30AA0270}"/>
                </a:ext>
              </a:extLst>
            </p:cNvPr>
            <p:cNvSpPr/>
            <p:nvPr/>
          </p:nvSpPr>
          <p:spPr>
            <a:xfrm>
              <a:off x="4022494" y="1274743"/>
              <a:ext cx="4102311" cy="162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72000" rtlCol="0" anchor="ctr"/>
            <a:lstStyle/>
            <a:p>
              <a:pPr algn="r"/>
              <a:r>
                <a:rPr lang="en-US" altLang="ko-KR" sz="900" dirty="0"/>
                <a:t>79</a:t>
              </a:r>
              <a:endParaRPr lang="ko-KR" altLang="en-US" sz="900" dirty="0"/>
            </a:p>
          </p:txBody>
        </p:sp>
        <p:sp>
          <p:nvSpPr>
            <p:cNvPr id="1170" name="직사각형 1169">
              <a:extLst>
                <a:ext uri="{FF2B5EF4-FFF2-40B4-BE49-F238E27FC236}">
                  <a16:creationId xmlns:a16="http://schemas.microsoft.com/office/drawing/2014/main" id="{21471377-5675-709A-0C4C-E566A6423286}"/>
                </a:ext>
              </a:extLst>
            </p:cNvPr>
            <p:cNvSpPr/>
            <p:nvPr/>
          </p:nvSpPr>
          <p:spPr>
            <a:xfrm>
              <a:off x="1710257" y="1157424"/>
              <a:ext cx="1013695" cy="79048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생활교육 </a:t>
              </a:r>
              <a:r>
                <a:rPr lang="ko-KR" altLang="en-US" sz="1000" dirty="0" err="1">
                  <a:solidFill>
                    <a:schemeClr val="tx1"/>
                  </a:solidFill>
                  <a:latin typeface="나눔고딕" pitchFamily="2" charset="-127"/>
                </a:rPr>
                <a:t>역량군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  <p:sp>
          <p:nvSpPr>
            <p:cNvPr id="1171" name="직사각형 1170">
              <a:extLst>
                <a:ext uri="{FF2B5EF4-FFF2-40B4-BE49-F238E27FC236}">
                  <a16:creationId xmlns:a16="http://schemas.microsoft.com/office/drawing/2014/main" id="{E552697F-DA7D-C1B1-E8F9-60798C6FB2D0}"/>
                </a:ext>
              </a:extLst>
            </p:cNvPr>
            <p:cNvSpPr/>
            <p:nvPr/>
          </p:nvSpPr>
          <p:spPr>
            <a:xfrm>
              <a:off x="2723951" y="1157425"/>
              <a:ext cx="1335163" cy="390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  <a:latin typeface="나눔고딕" pitchFamily="2" charset="-127"/>
                </a:rPr>
                <a:t>3. </a:t>
              </a:r>
              <a:r>
                <a:rPr lang="ko-KR" altLang="en-US" sz="1000" dirty="0">
                  <a:solidFill>
                    <a:schemeClr val="tx1"/>
                  </a:solidFill>
                  <a:latin typeface="나눔고딕" pitchFamily="2" charset="-127"/>
                </a:rPr>
                <a:t>생활교육</a:t>
              </a:r>
              <a:endParaRPr lang="ko-KR" altLang="en-US" dirty="0">
                <a:solidFill>
                  <a:schemeClr val="tx1"/>
                </a:solidFill>
                <a:latin typeface="나눔고딕" pitchFamily="2" charset="-127"/>
              </a:endParaRPr>
            </a:p>
          </p:txBody>
        </p:sp>
      </p:grpSp>
      <p:sp>
        <p:nvSpPr>
          <p:cNvPr id="40" name="Input">
            <a:extLst>
              <a:ext uri="{FF2B5EF4-FFF2-40B4-BE49-F238E27FC236}">
                <a16:creationId xmlns:a16="http://schemas.microsoft.com/office/drawing/2014/main" id="{9E72D4B1-C9C8-F7B3-0C4E-6F44E3627E6E}"/>
              </a:ext>
            </a:extLst>
          </p:cNvPr>
          <p:cNvSpPr/>
          <p:nvPr/>
        </p:nvSpPr>
        <p:spPr>
          <a:xfrm>
            <a:off x="5055379" y="3873628"/>
            <a:ext cx="958668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보고서 출력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423F9DF-70A8-E749-FBD0-7717874E5010}"/>
              </a:ext>
            </a:extLst>
          </p:cNvPr>
          <p:cNvSpPr/>
          <p:nvPr/>
        </p:nvSpPr>
        <p:spPr>
          <a:xfrm>
            <a:off x="4912504" y="38566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093BF-C923-DC7B-FA0B-B93C6FA7818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V-HCD-04-001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FFEC2-A80E-1FC0-3E13-BA638464260B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진단결과 보고서 팝업</a:t>
            </a:r>
          </a:p>
        </p:txBody>
      </p:sp>
    </p:spTree>
    <p:extLst>
      <p:ext uri="{BB962C8B-B14F-4D97-AF65-F5344CB8AC3E}">
        <p14:creationId xmlns:p14="http://schemas.microsoft.com/office/powerpoint/2010/main" val="3973205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27353</TotalTime>
  <Words>2570</Words>
  <Application>Microsoft Office PowerPoint</Application>
  <PresentationFormat>와이드스크린</PresentationFormat>
  <Paragraphs>781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15</vt:i4>
      </vt:variant>
    </vt:vector>
  </HeadingPairs>
  <TitlesOfParts>
    <vt:vector size="27" baseType="lpstr">
      <vt:lpstr>Segoe UI</vt:lpstr>
      <vt:lpstr>나눔고딕</vt:lpstr>
      <vt:lpstr>굴림</vt:lpstr>
      <vt:lpstr>Calibri</vt:lpstr>
      <vt:lpstr>맑은 고딕</vt:lpstr>
      <vt:lpstr>Arial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984</cp:revision>
  <dcterms:created xsi:type="dcterms:W3CDTF">2023-06-09T00:38:08Z</dcterms:created>
  <dcterms:modified xsi:type="dcterms:W3CDTF">2026-01-07T05:26:38Z</dcterms:modified>
</cp:coreProperties>
</file>